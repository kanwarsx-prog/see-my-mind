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10"/>
  </p:normalViewPr>
  <p:slideViewPr>
    <p:cSldViewPr snapToGrid="0" snapToObjects="1">
      <p:cViewPr>
        <p:scale>
          <a:sx n="103" d="100"/>
          <a:sy n="103"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9985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658368" y="658368"/>
            <a:ext cx="2286000" cy="256032"/>
          </a:xfrm>
          <a:prstGeom prst="rect">
            <a:avLst/>
          </a:prstGeom>
          <a:noFill/>
          <a:ln/>
        </p:spPr>
        <p:txBody>
          <a:bodyPr wrap="square" lIns="0" tIns="0" rIns="0" bIns="0" rtlCol="0" anchor="ctr"/>
          <a:lstStyle/>
          <a:p>
            <a:pPr marL="0" indent="0">
              <a:buNone/>
            </a:pPr>
            <a:r>
              <a:rPr lang="en-US" sz="1200" b="1" dirty="0">
                <a:solidFill>
                  <a:srgbClr val="9ECFC4"/>
                </a:solidFill>
              </a:rPr>
              <a:t>SEE MY MIND</a:t>
            </a:r>
            <a:endParaRPr lang="en-US" sz="1200" dirty="0"/>
          </a:p>
        </p:txBody>
      </p:sp>
      <p:sp>
        <p:nvSpPr>
          <p:cNvPr id="4" name="Text 2"/>
          <p:cNvSpPr/>
          <p:nvPr/>
        </p:nvSpPr>
        <p:spPr>
          <a:xfrm>
            <a:off x="658368" y="2011680"/>
            <a:ext cx="7406640" cy="658368"/>
          </a:xfrm>
          <a:prstGeom prst="rect">
            <a:avLst/>
          </a:prstGeom>
          <a:noFill/>
          <a:ln/>
        </p:spPr>
        <p:txBody>
          <a:bodyPr wrap="square" lIns="0" tIns="0" rIns="0" bIns="0" rtlCol="0" anchor="ctr"/>
          <a:lstStyle/>
          <a:p>
            <a:pPr marL="0" indent="0">
              <a:buNone/>
            </a:pPr>
            <a:r>
              <a:rPr lang="en-US" sz="3400" b="1" dirty="0">
                <a:solidFill>
                  <a:srgbClr val="FFFFFF"/>
                </a:solidFill>
              </a:rPr>
              <a:t>Technical Blueprint</a:t>
            </a:r>
            <a:endParaRPr lang="en-US" sz="3400" dirty="0"/>
          </a:p>
        </p:txBody>
      </p:sp>
      <p:sp>
        <p:nvSpPr>
          <p:cNvPr id="5" name="Text 3"/>
          <p:cNvSpPr/>
          <p:nvPr/>
        </p:nvSpPr>
        <p:spPr>
          <a:xfrm>
            <a:off x="685800" y="2788920"/>
            <a:ext cx="7863840" cy="502920"/>
          </a:xfrm>
          <a:prstGeom prst="rect">
            <a:avLst/>
          </a:prstGeom>
          <a:noFill/>
          <a:ln/>
        </p:spPr>
        <p:txBody>
          <a:bodyPr wrap="square" lIns="0" tIns="0" rIns="0" bIns="0" rtlCol="0" anchor="ctr">
            <a:normAutofit/>
          </a:bodyPr>
          <a:lstStyle/>
          <a:p>
            <a:pPr marL="0" indent="0">
              <a:buNone/>
            </a:pPr>
            <a:r>
              <a:rPr lang="en-US" sz="1500" dirty="0">
                <a:solidFill>
                  <a:srgbClr val="DDE4E8"/>
                </a:solidFill>
              </a:rPr>
              <a:t>High-level design for mobile-first, secure, workflow-driven SEND communication and evidence platform</a:t>
            </a:r>
            <a:endParaRPr lang="en-US" sz="1500" dirty="0"/>
          </a:p>
        </p:txBody>
      </p:sp>
      <p:sp>
        <p:nvSpPr>
          <p:cNvPr id="6" name="Text 4"/>
          <p:cNvSpPr/>
          <p:nvPr/>
        </p:nvSpPr>
        <p:spPr>
          <a:xfrm>
            <a:off x="685800" y="5971032"/>
            <a:ext cx="7132320" cy="228600"/>
          </a:xfrm>
          <a:prstGeom prst="rect">
            <a:avLst/>
          </a:prstGeom>
          <a:noFill/>
          <a:ln/>
        </p:spPr>
        <p:txBody>
          <a:bodyPr wrap="square" lIns="0" tIns="0" rIns="0" bIns="0" rtlCol="0" anchor="ctr"/>
          <a:lstStyle/>
          <a:p>
            <a:pPr marL="0" indent="0">
              <a:buNone/>
            </a:pPr>
            <a:r>
              <a:rPr lang="en-US" sz="1000" dirty="0">
                <a:solidFill>
                  <a:srgbClr val="C9E4DE"/>
                </a:solidFill>
              </a:rPr>
              <a:t>v0.2 - expanded architecture, data, privacy, workflow and mobile design</a:t>
            </a:r>
            <a:endParaRPr lang="en-US" sz="1000" dirty="0"/>
          </a:p>
        </p:txBody>
      </p:sp>
      <p:sp>
        <p:nvSpPr>
          <p:cNvPr id="7" name="Text 5"/>
          <p:cNvSpPr/>
          <p:nvPr/>
        </p:nvSpPr>
        <p:spPr>
          <a:xfrm>
            <a:off x="9326880" y="5971032"/>
            <a:ext cx="2103120" cy="228600"/>
          </a:xfrm>
          <a:prstGeom prst="rect">
            <a:avLst/>
          </a:prstGeom>
          <a:noFill/>
          <a:ln/>
        </p:spPr>
        <p:txBody>
          <a:bodyPr wrap="square" lIns="0" tIns="0" rIns="0" bIns="0" rtlCol="0" anchor="ctr"/>
          <a:lstStyle/>
          <a:p>
            <a:pPr marL="0" indent="0" algn="r">
              <a:buNone/>
            </a:pPr>
            <a:r>
              <a:rPr lang="en-US" sz="1000" dirty="0">
                <a:solidFill>
                  <a:srgbClr val="C9E4DE"/>
                </a:solidFill>
              </a:rPr>
              <a:t>15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ORIENTATION</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Purpose of this blueprint</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A shared technical reference for founders, volunteers, school demos, UCL RAG discussion and pre-seed planning</a:t>
            </a:r>
            <a:endParaRPr lang="en-US" sz="1100" dirty="0"/>
          </a:p>
        </p:txBody>
      </p:sp>
      <p:sp>
        <p:nvSpPr>
          <p:cNvPr id="9" name="Text 7"/>
          <p:cNvSpPr/>
          <p:nvPr/>
        </p:nvSpPr>
        <p:spPr>
          <a:xfrm>
            <a:off x="685800" y="1508760"/>
            <a:ext cx="5303520" cy="2834640"/>
          </a:xfrm>
          <a:prstGeom prst="rect">
            <a:avLst/>
          </a:prstGeom>
          <a:noFill/>
          <a:ln/>
        </p:spPr>
        <p:txBody>
          <a:bodyPr wrap="square" lIns="508" tIns="508" rIns="508" bIns="508" rtlCol="0" anchor="ctr">
            <a:normAutofit/>
          </a:bodyPr>
          <a:lstStyle/>
          <a:p>
            <a:r>
              <a:rPr lang="en-US" sz="1400" dirty="0">
                <a:solidFill>
                  <a:srgbClr val="1A3A4A"/>
                </a:solidFill>
              </a:rPr>
              <a:t>Define the target conceptual architecture before workstreams diverge.</a:t>
            </a:r>
            <a:endParaRPr lang="en-US" sz="1400" dirty="0"/>
          </a:p>
          <a:p>
            <a:r>
              <a:rPr lang="en-US" sz="1400" dirty="0">
                <a:solidFill>
                  <a:srgbClr val="1A3A4A"/>
                </a:solidFill>
              </a:rPr>
              <a:t>Document the layers: user experience, workflow, Frappe application, data, security, reporting, AI and integration.</a:t>
            </a:r>
            <a:endParaRPr lang="en-US" sz="1400" dirty="0"/>
          </a:p>
          <a:p>
            <a:r>
              <a:rPr lang="en-US" sz="1400" dirty="0">
                <a:solidFill>
                  <a:srgbClr val="1A3A4A"/>
                </a:solidFill>
              </a:rPr>
              <a:t>Separate what is required for an October demonstration from what is required for a live pilot with real data.</a:t>
            </a:r>
            <a:endParaRPr lang="en-US" sz="1400" dirty="0"/>
          </a:p>
          <a:p>
            <a:r>
              <a:rPr lang="en-US" sz="1400" dirty="0">
                <a:solidFill>
                  <a:srgbClr val="1A3A4A"/>
                </a:solidFill>
              </a:rPr>
              <a:t>Give volunteers and reviewers a consistent boundary: where to build, where to challenge and where not to duplicate effort.</a:t>
            </a:r>
            <a:endParaRPr lang="en-US" sz="1400" dirty="0"/>
          </a:p>
        </p:txBody>
      </p:sp>
      <p:sp>
        <p:nvSpPr>
          <p:cNvPr id="10" name="Text 8"/>
          <p:cNvSpPr/>
          <p:nvPr/>
        </p:nvSpPr>
        <p:spPr>
          <a:xfrm>
            <a:off x="6446520" y="1417320"/>
            <a:ext cx="4800600" cy="150876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Design principle: the prototype should remain production-shaped. We can simplify screens and workflows for the demo, but not ignore privacy, role boundaries, audit or the future mobile usage model.</a:t>
            </a:r>
            <a:endParaRPr lang="en-US" sz="1050" dirty="0"/>
          </a:p>
        </p:txBody>
      </p:sp>
      <p:sp>
        <p:nvSpPr>
          <p:cNvPr id="11" name="Text 9"/>
          <p:cNvSpPr/>
          <p:nvPr/>
        </p:nvSpPr>
        <p:spPr>
          <a:xfrm>
            <a:off x="6446520" y="3154680"/>
            <a:ext cx="4800600" cy="132588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Current status: POC has started the core model in Frappe: School, Child, Guardian, Staff, relationships, Child Event timeline and Observation foundation.</a:t>
            </a:r>
            <a:endParaRPr lang="en-US" sz="1050" dirty="0"/>
          </a:p>
        </p:txBody>
      </p:sp>
      <p:sp>
        <p:nvSpPr>
          <p:cNvPr id="12" name="Text 10"/>
          <p:cNvSpPr/>
          <p:nvPr/>
        </p:nvSpPr>
        <p:spPr>
          <a:xfrm>
            <a:off x="6446520" y="4681728"/>
            <a:ext cx="4800600" cy="100584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Decision needed: approve this blueprint as the working baseline, then refine through code review, security review, and school/user feedback.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ORIENTATION</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Contents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deck moves from concept to architecture, security, delivery and decisions</a:t>
            </a:r>
            <a:endParaRPr lang="en-US" sz="1100" dirty="0"/>
          </a:p>
        </p:txBody>
      </p:sp>
      <p:sp>
        <p:nvSpPr>
          <p:cNvPr id="9" name="Text 7"/>
          <p:cNvSpPr/>
          <p:nvPr/>
        </p:nvSpPr>
        <p:spPr>
          <a:xfrm>
            <a:off x="640080" y="1325880"/>
            <a:ext cx="3246120" cy="4251960"/>
          </a:xfrm>
          <a:prstGeom prst="roundRect">
            <a:avLst>
              <a:gd name="adj" fmla="val 2254"/>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1. Executive view</a:t>
            </a:r>
            <a:endParaRPr lang="en-US" sz="1200" dirty="0"/>
          </a:p>
          <a:p>
            <a:pPr marL="0" indent="0" algn="l">
              <a:buNone/>
            </a:pPr>
            <a:r>
              <a:rPr lang="en-US" sz="1200" dirty="0">
                <a:solidFill>
                  <a:srgbClr val="1A3A4A"/>
                </a:solidFill>
              </a:rPr>
              <a:t>2. Target conceptual architecture</a:t>
            </a:r>
            <a:endParaRPr lang="en-US" sz="1200" dirty="0"/>
          </a:p>
          <a:p>
            <a:pPr marL="0" indent="0" algn="l">
              <a:buNone/>
            </a:pPr>
            <a:r>
              <a:rPr lang="en-US" sz="1200" dirty="0">
                <a:solidFill>
                  <a:srgbClr val="1A3A4A"/>
                </a:solidFill>
              </a:rPr>
              <a:t>3. User profiles and UX principles</a:t>
            </a:r>
            <a:endParaRPr lang="en-US" sz="1200" dirty="0"/>
          </a:p>
          <a:p>
            <a:pPr marL="0" indent="0" algn="l">
              <a:buNone/>
            </a:pPr>
            <a:r>
              <a:rPr lang="en-US" sz="1200" dirty="0">
                <a:solidFill>
                  <a:srgbClr val="1A3A4A"/>
                </a:solidFill>
              </a:rPr>
              <a:t>4. Technology stack and channels</a:t>
            </a:r>
            <a:endParaRPr lang="en-US" sz="1200" dirty="0"/>
          </a:p>
          <a:p>
            <a:pPr marL="0" indent="0" algn="l">
              <a:buNone/>
            </a:pPr>
            <a:r>
              <a:rPr lang="en-US" sz="1200" dirty="0">
                <a:solidFill>
                  <a:srgbClr val="1A3A4A"/>
                </a:solidFill>
              </a:rPr>
              <a:t>5. Frappe application layer</a:t>
            </a:r>
            <a:endParaRPr lang="en-US" sz="1200" dirty="0"/>
          </a:p>
          <a:p>
            <a:pPr marL="0" indent="0" algn="l">
              <a:buNone/>
            </a:pPr>
            <a:r>
              <a:rPr lang="en-US" sz="1200" dirty="0">
                <a:solidFill>
                  <a:srgbClr val="1A3A4A"/>
                </a:solidFill>
              </a:rPr>
              <a:t>6. Workflow and rules layer</a:t>
            </a:r>
            <a:endParaRPr lang="en-US" sz="1200" dirty="0"/>
          </a:p>
        </p:txBody>
      </p:sp>
      <p:sp>
        <p:nvSpPr>
          <p:cNvPr id="10" name="Text 8"/>
          <p:cNvSpPr/>
          <p:nvPr/>
        </p:nvSpPr>
        <p:spPr>
          <a:xfrm>
            <a:off x="4370832" y="1325880"/>
            <a:ext cx="3246120" cy="4251960"/>
          </a:xfrm>
          <a:prstGeom prst="roundRect">
            <a:avLst>
              <a:gd name="adj" fmla="val 2254"/>
            </a:avLst>
          </a:prstGeom>
          <a:solidFill>
            <a:srgbClr val="FDF3DC"/>
          </a:solidFill>
          <a:ln w="12700">
            <a:solidFill>
              <a:srgbClr val="E8B84B"/>
            </a:solidFill>
          </a:ln>
        </p:spPr>
        <p:txBody>
          <a:bodyPr wrap="square" lIns="1270" tIns="1270" rIns="1270" bIns="1270" rtlCol="0" anchor="t">
            <a:normAutofit/>
          </a:bodyPr>
          <a:lstStyle/>
          <a:p>
            <a:pPr marL="0" indent="0" algn="l">
              <a:buNone/>
            </a:pPr>
            <a:r>
              <a:rPr lang="en-US" sz="1200" dirty="0">
                <a:solidFill>
                  <a:srgbClr val="1A3A4A"/>
                </a:solidFill>
              </a:rPr>
              <a:t>7. Data model and foundation data</a:t>
            </a:r>
            <a:endParaRPr lang="en-US" sz="1200" dirty="0"/>
          </a:p>
          <a:p>
            <a:pPr marL="0" indent="0" algn="l">
              <a:buNone/>
            </a:pPr>
            <a:r>
              <a:rPr lang="en-US" sz="1200" dirty="0">
                <a:solidFill>
                  <a:srgbClr val="1A3A4A"/>
                </a:solidFill>
              </a:rPr>
              <a:t>8. Privacy and data governance</a:t>
            </a:r>
            <a:endParaRPr lang="en-US" sz="1200" dirty="0"/>
          </a:p>
          <a:p>
            <a:pPr marL="0" indent="0" algn="l">
              <a:buNone/>
            </a:pPr>
            <a:r>
              <a:rPr lang="en-US" sz="1200" dirty="0">
                <a:solidFill>
                  <a:srgbClr val="1A3A4A"/>
                </a:solidFill>
              </a:rPr>
              <a:t>9. Multi-tenancy model</a:t>
            </a:r>
            <a:endParaRPr lang="en-US" sz="1200" dirty="0"/>
          </a:p>
          <a:p>
            <a:pPr marL="0" indent="0" algn="l">
              <a:buNone/>
            </a:pPr>
            <a:r>
              <a:rPr lang="en-US" sz="1200" dirty="0">
                <a:solidFill>
                  <a:srgbClr val="1A3A4A"/>
                </a:solidFill>
              </a:rPr>
              <a:t>10. Entitlement and security</a:t>
            </a:r>
            <a:endParaRPr lang="en-US" sz="1200" dirty="0"/>
          </a:p>
          <a:p>
            <a:pPr marL="0" indent="0" algn="l">
              <a:buNone/>
            </a:pPr>
            <a:r>
              <a:rPr lang="en-US" sz="1200" dirty="0">
                <a:solidFill>
                  <a:srgbClr val="1A3A4A"/>
                </a:solidFill>
              </a:rPr>
              <a:t>11. Reporting and dashboards</a:t>
            </a:r>
            <a:endParaRPr lang="en-US" sz="1200" dirty="0"/>
          </a:p>
          <a:p>
            <a:pPr marL="0" indent="0" algn="l">
              <a:buNone/>
            </a:pPr>
            <a:r>
              <a:rPr lang="en-US" sz="1200" dirty="0">
                <a:solidFill>
                  <a:srgbClr val="1A3A4A"/>
                </a:solidFill>
              </a:rPr>
              <a:t>12. AI / RAG layer</a:t>
            </a:r>
            <a:endParaRPr lang="en-US" sz="1200" dirty="0"/>
          </a:p>
        </p:txBody>
      </p:sp>
      <p:sp>
        <p:nvSpPr>
          <p:cNvPr id="11" name="Text 9"/>
          <p:cNvSpPr/>
          <p:nvPr/>
        </p:nvSpPr>
        <p:spPr>
          <a:xfrm>
            <a:off x="8101584" y="1325880"/>
            <a:ext cx="3246120" cy="4251960"/>
          </a:xfrm>
          <a:prstGeom prst="roundRect">
            <a:avLst>
              <a:gd name="adj" fmla="val 2254"/>
            </a:avLst>
          </a:prstGeom>
          <a:solidFill>
            <a:srgbClr val="FFFFFF"/>
          </a:solidFill>
          <a:ln w="12700">
            <a:solidFill>
              <a:srgbClr val="DDE4E8"/>
            </a:solidFill>
          </a:ln>
        </p:spPr>
        <p:txBody>
          <a:bodyPr wrap="square" lIns="1270" tIns="1270" rIns="1270" bIns="1270" rtlCol="0" anchor="t">
            <a:normAutofit/>
          </a:bodyPr>
          <a:lstStyle/>
          <a:p>
            <a:pPr marL="0" indent="0" algn="l">
              <a:buNone/>
            </a:pPr>
            <a:r>
              <a:rPr lang="en-US" sz="1200" dirty="0">
                <a:solidFill>
                  <a:srgbClr val="1A3A4A"/>
                </a:solidFill>
              </a:rPr>
              <a:t>13. Mobile app model</a:t>
            </a:r>
            <a:endParaRPr lang="en-US" sz="1200" dirty="0"/>
          </a:p>
          <a:p>
            <a:pPr marL="0" indent="0" algn="l">
              <a:buNone/>
            </a:pPr>
            <a:r>
              <a:rPr lang="en-US" sz="1200" dirty="0">
                <a:solidFill>
                  <a:srgbClr val="1A3A4A"/>
                </a:solidFill>
              </a:rPr>
              <a:t>14. Import/export and interoperability</a:t>
            </a:r>
            <a:endParaRPr lang="en-US" sz="1200" dirty="0"/>
          </a:p>
          <a:p>
            <a:pPr marL="0" indent="0" algn="l">
              <a:buNone/>
            </a:pPr>
            <a:r>
              <a:rPr lang="en-US" sz="1200" dirty="0">
                <a:solidFill>
                  <a:srgbClr val="1A3A4A"/>
                </a:solidFill>
              </a:rPr>
              <a:t>15. Environments and operations</a:t>
            </a:r>
            <a:endParaRPr lang="en-US" sz="1200" dirty="0"/>
          </a:p>
          <a:p>
            <a:pPr marL="0" indent="0" algn="l">
              <a:buNone/>
            </a:pPr>
            <a:r>
              <a:rPr lang="en-US" sz="1200" dirty="0">
                <a:solidFill>
                  <a:srgbClr val="1A3A4A"/>
                </a:solidFill>
              </a:rPr>
              <a:t>16. Assurance and release gates</a:t>
            </a:r>
            <a:endParaRPr lang="en-US" sz="1200" dirty="0"/>
          </a:p>
          <a:p>
            <a:pPr marL="0" indent="0" algn="l">
              <a:buNone/>
            </a:pPr>
            <a:r>
              <a:rPr lang="en-US" sz="1200" dirty="0">
                <a:solidFill>
                  <a:srgbClr val="1A3A4A"/>
                </a:solidFill>
              </a:rPr>
              <a:t>17. MVP build roadmap</a:t>
            </a:r>
            <a:endParaRPr lang="en-US" sz="1200" dirty="0"/>
          </a:p>
          <a:p>
            <a:pPr marL="0" indent="0" algn="l">
              <a:buNone/>
            </a:pPr>
            <a:r>
              <a:rPr lang="en-US" sz="1200" dirty="0">
                <a:solidFill>
                  <a:srgbClr val="1A3A4A"/>
                </a:solidFill>
              </a:rPr>
              <a:t>18. Open decisions and next steps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EXECUTIVE SUMMARY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Executive summary</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Recommended architecture and delivery posture</a:t>
            </a:r>
            <a:endParaRPr lang="en-US" sz="1100" dirty="0"/>
          </a:p>
        </p:txBody>
      </p:sp>
      <p:sp>
        <p:nvSpPr>
          <p:cNvPr id="9" name="Text 7"/>
          <p:cNvSpPr/>
          <p:nvPr/>
        </p:nvSpPr>
        <p:spPr>
          <a:xfrm>
            <a:off x="658368" y="1234440"/>
            <a:ext cx="10881360" cy="62179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Architecture</a:t>
            </a:r>
            <a:endParaRPr lang="en-US" sz="1050" dirty="0"/>
          </a:p>
          <a:p>
            <a:pPr marL="0" indent="0">
              <a:buNone/>
            </a:pPr>
            <a:r>
              <a:rPr lang="en-US" sz="1050" dirty="0">
                <a:solidFill>
                  <a:srgbClr val="3D4F5A"/>
                </a:solidFill>
              </a:rPr>
              <a:t>Mobile-first custom UI over Frappe. Frappe owns data model, workflow, permissions, audit and backend services.</a:t>
            </a:r>
            <a:endParaRPr lang="en-US" sz="1050" dirty="0"/>
          </a:p>
        </p:txBody>
      </p:sp>
      <p:sp>
        <p:nvSpPr>
          <p:cNvPr id="10" name="Text 8"/>
          <p:cNvSpPr/>
          <p:nvPr/>
        </p:nvSpPr>
        <p:spPr>
          <a:xfrm>
            <a:off x="658368" y="2130552"/>
            <a:ext cx="10881360" cy="62179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Database</a:t>
            </a:r>
            <a:endParaRPr lang="en-US" sz="1050" dirty="0"/>
          </a:p>
          <a:p>
            <a:pPr marL="0" indent="0">
              <a:buNone/>
            </a:pPr>
            <a:r>
              <a:rPr lang="en-US" sz="1050" dirty="0">
                <a:solidFill>
                  <a:srgbClr val="3D4F5A"/>
                </a:solidFill>
              </a:rPr>
              <a:t>MariaDB for initial Frappe implementation. PostgreSQL not selected for MVP due to maturity/support considerations.</a:t>
            </a:r>
            <a:endParaRPr lang="en-US" sz="1050" dirty="0"/>
          </a:p>
        </p:txBody>
      </p:sp>
      <p:sp>
        <p:nvSpPr>
          <p:cNvPr id="11" name="Text 9"/>
          <p:cNvSpPr/>
          <p:nvPr/>
        </p:nvSpPr>
        <p:spPr>
          <a:xfrm>
            <a:off x="658368" y="3026664"/>
            <a:ext cx="10881360" cy="62179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Security</a:t>
            </a:r>
            <a:endParaRPr lang="en-US" sz="1050" dirty="0"/>
          </a:p>
          <a:p>
            <a:pPr marL="0" indent="0">
              <a:buNone/>
            </a:pPr>
            <a:r>
              <a:rPr lang="en-US" sz="1050" dirty="0">
                <a:solidFill>
                  <a:srgbClr val="3D4F5A"/>
                </a:solidFill>
              </a:rPr>
              <a:t>School/tenant isolation, RBAC, record permissions, 2FA, audit, consent and controlled exports must be baseline features.</a:t>
            </a:r>
            <a:endParaRPr lang="en-US" sz="1050" dirty="0"/>
          </a:p>
        </p:txBody>
      </p:sp>
      <p:sp>
        <p:nvSpPr>
          <p:cNvPr id="12" name="Text 10"/>
          <p:cNvSpPr/>
          <p:nvPr/>
        </p:nvSpPr>
        <p:spPr>
          <a:xfrm>
            <a:off x="658368" y="3922776"/>
            <a:ext cx="10881360" cy="62179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AI/RAG</a:t>
            </a:r>
            <a:endParaRPr lang="en-US" sz="1050" dirty="0"/>
          </a:p>
          <a:p>
            <a:pPr marL="0" indent="0">
              <a:buNone/>
            </a:pPr>
            <a:r>
              <a:rPr lang="en-US" sz="1050" dirty="0">
                <a:solidFill>
                  <a:srgbClr val="3D4F5A"/>
                </a:solidFill>
              </a:rPr>
              <a:t>Advisory layer only. Facts, observations and AI inference must remain separate with provenance.</a:t>
            </a:r>
            <a:endParaRPr lang="en-US" sz="1050" dirty="0"/>
          </a:p>
        </p:txBody>
      </p:sp>
      <p:sp>
        <p:nvSpPr>
          <p:cNvPr id="13" name="Text 11"/>
          <p:cNvSpPr/>
          <p:nvPr/>
        </p:nvSpPr>
        <p:spPr>
          <a:xfrm>
            <a:off x="658368" y="4818888"/>
            <a:ext cx="10881360" cy="62179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Delivery</a:t>
            </a:r>
            <a:endParaRPr lang="en-US" sz="1050" dirty="0"/>
          </a:p>
          <a:p>
            <a:pPr marL="0" indent="0">
              <a:buNone/>
            </a:pPr>
            <a:r>
              <a:rPr lang="en-US" sz="1050" dirty="0">
                <a:solidFill>
                  <a:srgbClr val="3D4F5A"/>
                </a:solidFill>
              </a:rPr>
              <a:t>Build demo vertical slice first; move to controlled pilot only after security and privacy gates pass.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01</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01. Conceptual Architecture</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The layers that make See My Mind coherent, secure and scalable</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ARCHITECTURE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Conceptual design - layered view</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application should be mobile-first at the edge, controlled by workflow and data governance at the core</a:t>
            </a:r>
            <a:endParaRPr lang="en-US" sz="1100" dirty="0"/>
          </a:p>
        </p:txBody>
      </p:sp>
      <p:sp>
        <p:nvSpPr>
          <p:cNvPr id="9" name="Text 7"/>
          <p:cNvSpPr/>
          <p:nvPr/>
        </p:nvSpPr>
        <p:spPr>
          <a:xfrm>
            <a:off x="960120" y="1225296"/>
            <a:ext cx="10287000" cy="530352"/>
          </a:xfrm>
          <a:prstGeom prst="roundRect">
            <a:avLst>
              <a:gd name="adj" fmla="val 13793"/>
            </a:avLst>
          </a:prstGeom>
          <a:solidFill>
            <a:srgbClr val="1A3A4A"/>
          </a:solidFill>
          <a:ln w="12700">
            <a:solidFill>
              <a:srgbClr val="1A3A4A"/>
            </a:solidFill>
          </a:ln>
        </p:spPr>
        <p:txBody>
          <a:bodyPr wrap="square" lIns="1270" tIns="1270" rIns="1270" bIns="1270" rtlCol="0" anchor="ctr">
            <a:normAutofit/>
          </a:bodyPr>
          <a:lstStyle/>
          <a:p>
            <a:pPr marL="0" indent="0" algn="l">
              <a:buNone/>
            </a:pPr>
            <a:r>
              <a:rPr lang="en-US" sz="1100" dirty="0">
                <a:solidFill>
                  <a:srgbClr val="FFFFFF"/>
                </a:solidFill>
              </a:rPr>
              <a:t>User Experience Layer: iOS app, Android app, mobile web, desktop browser, role-specific journeys</a:t>
            </a:r>
            <a:endParaRPr lang="en-US" sz="1100" dirty="0"/>
          </a:p>
        </p:txBody>
      </p:sp>
      <p:sp>
        <p:nvSpPr>
          <p:cNvPr id="10" name="Text 8"/>
          <p:cNvSpPr/>
          <p:nvPr/>
        </p:nvSpPr>
        <p:spPr>
          <a:xfrm>
            <a:off x="960120" y="1920240"/>
            <a:ext cx="10287000" cy="530352"/>
          </a:xfrm>
          <a:prstGeom prst="roundRect">
            <a:avLst>
              <a:gd name="adj" fmla="val 13793"/>
            </a:avLst>
          </a:prstGeom>
          <a:solidFill>
            <a:srgbClr val="2A6B62"/>
          </a:solidFill>
          <a:ln w="12700">
            <a:solidFill>
              <a:srgbClr val="1A3A4A"/>
            </a:solidFill>
          </a:ln>
        </p:spPr>
        <p:txBody>
          <a:bodyPr wrap="square" lIns="1270" tIns="1270" rIns="1270" bIns="1270" rtlCol="0" anchor="ctr">
            <a:normAutofit/>
          </a:bodyPr>
          <a:lstStyle/>
          <a:p>
            <a:pPr marL="0" indent="0" algn="l">
              <a:buNone/>
            </a:pPr>
            <a:r>
              <a:rPr lang="en-US" sz="1100" dirty="0">
                <a:solidFill>
                  <a:srgbClr val="FFFFFF"/>
                </a:solidFill>
              </a:rPr>
              <a:t>Channel/API Layer: Authenticated endpoints, REST APIs, mobile wrapper/API gateway, push/email/SMS connectors</a:t>
            </a:r>
            <a:endParaRPr lang="en-US" sz="1100" dirty="0"/>
          </a:p>
        </p:txBody>
      </p:sp>
      <p:sp>
        <p:nvSpPr>
          <p:cNvPr id="11" name="Text 9"/>
          <p:cNvSpPr/>
          <p:nvPr/>
        </p:nvSpPr>
        <p:spPr>
          <a:xfrm>
            <a:off x="960120" y="2615184"/>
            <a:ext cx="10287000" cy="530352"/>
          </a:xfrm>
          <a:prstGeom prst="roundRect">
            <a:avLst>
              <a:gd name="adj" fmla="val 13793"/>
            </a:avLst>
          </a:prstGeom>
          <a:solidFill>
            <a:srgbClr val="E8F4F1"/>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Workflow &amp; Rules Layer: Child events, observations, incidents, handovers, alerts, review triggers, scheduled jobs</a:t>
            </a:r>
            <a:endParaRPr lang="en-US" sz="1050" dirty="0"/>
          </a:p>
        </p:txBody>
      </p:sp>
      <p:sp>
        <p:nvSpPr>
          <p:cNvPr id="12" name="Text 10"/>
          <p:cNvSpPr/>
          <p:nvPr/>
        </p:nvSpPr>
        <p:spPr>
          <a:xfrm>
            <a:off x="960120" y="3310128"/>
            <a:ext cx="10287000" cy="530352"/>
          </a:xfrm>
          <a:prstGeom prst="roundRect">
            <a:avLst>
              <a:gd name="adj" fmla="val 13793"/>
            </a:avLst>
          </a:prstGeom>
          <a:solidFill>
            <a:srgbClr val="FFFFFF"/>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Application Layer: Frappe app: DocTypes, controllers, permissions, hooks, reports, background workers</a:t>
            </a:r>
            <a:endParaRPr lang="en-US" sz="1050" dirty="0"/>
          </a:p>
        </p:txBody>
      </p:sp>
      <p:sp>
        <p:nvSpPr>
          <p:cNvPr id="13" name="Text 11"/>
          <p:cNvSpPr/>
          <p:nvPr/>
        </p:nvSpPr>
        <p:spPr>
          <a:xfrm>
            <a:off x="960120" y="4005072"/>
            <a:ext cx="10287000" cy="530352"/>
          </a:xfrm>
          <a:prstGeom prst="roundRect">
            <a:avLst>
              <a:gd name="adj" fmla="val 13793"/>
            </a:avLst>
          </a:prstGeom>
          <a:solidFill>
            <a:srgbClr val="FDF3DC"/>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Data Layer: MariaDB operational data, files/documents, audit logs, export packs, analytics snapshots</a:t>
            </a:r>
            <a:endParaRPr lang="en-US" sz="1050" dirty="0"/>
          </a:p>
        </p:txBody>
      </p:sp>
      <p:sp>
        <p:nvSpPr>
          <p:cNvPr id="14" name="Text 12"/>
          <p:cNvSpPr/>
          <p:nvPr/>
        </p:nvSpPr>
        <p:spPr>
          <a:xfrm>
            <a:off x="960120" y="4700016"/>
            <a:ext cx="10287000" cy="530352"/>
          </a:xfrm>
          <a:prstGeom prst="roundRect">
            <a:avLst>
              <a:gd name="adj" fmla="val 13793"/>
            </a:avLst>
          </a:prstGeom>
          <a:solidFill>
            <a:srgbClr val="DDD8F0"/>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AI/RAG Layer: Vector index, source documents, AI runs, human-reviewed insights, evidence links</a:t>
            </a:r>
            <a:endParaRPr lang="en-US" sz="1050" dirty="0"/>
          </a:p>
        </p:txBody>
      </p:sp>
      <p:sp>
        <p:nvSpPr>
          <p:cNvPr id="15" name="Text 13"/>
          <p:cNvSpPr/>
          <p:nvPr/>
        </p:nvSpPr>
        <p:spPr>
          <a:xfrm>
            <a:off x="960120" y="5650992"/>
            <a:ext cx="10287000" cy="50292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Critical pattern: the polished See My Mind UI is not the database. The UI is a role-specific presentation layer over a governed workflow/data platform.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ARCHITECTURE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Target system map</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A single Frappe product core surfaced through multiple secure channels</a:t>
            </a:r>
            <a:endParaRPr lang="en-US" sz="1100" dirty="0"/>
          </a:p>
        </p:txBody>
      </p:sp>
      <p:sp>
        <p:nvSpPr>
          <p:cNvPr id="9" name="Shape 7"/>
          <p:cNvSpPr/>
          <p:nvPr/>
        </p:nvSpPr>
        <p:spPr>
          <a:xfrm>
            <a:off x="2706624" y="1453896"/>
            <a:ext cx="329184" cy="630936"/>
          </a:xfrm>
          <a:prstGeom prst="line">
            <a:avLst/>
          </a:prstGeom>
          <a:noFill/>
          <a:ln w="15875">
            <a:solidFill>
              <a:srgbClr val="627984"/>
            </a:solidFill>
            <a:prstDash val="solid"/>
            <a:headEnd type="none"/>
            <a:tailEnd type="triangle"/>
          </a:ln>
        </p:spPr>
        <p:txBody>
          <a:bodyPr/>
          <a:lstStyle/>
          <a:p>
            <a:endParaRPr lang="en-GB"/>
          </a:p>
        </p:txBody>
      </p:sp>
      <p:sp>
        <p:nvSpPr>
          <p:cNvPr id="10" name="Shape 8"/>
          <p:cNvSpPr/>
          <p:nvPr/>
        </p:nvSpPr>
        <p:spPr>
          <a:xfrm>
            <a:off x="2706624" y="2368296"/>
            <a:ext cx="329184" cy="0"/>
          </a:xfrm>
          <a:prstGeom prst="line">
            <a:avLst/>
          </a:prstGeom>
          <a:noFill/>
          <a:ln w="15875">
            <a:solidFill>
              <a:srgbClr val="627984"/>
            </a:solidFill>
            <a:prstDash val="solid"/>
            <a:headEnd type="none"/>
            <a:tailEnd type="triangle"/>
          </a:ln>
        </p:spPr>
        <p:txBody>
          <a:bodyPr/>
          <a:lstStyle/>
          <a:p>
            <a:endParaRPr lang="en-GB"/>
          </a:p>
        </p:txBody>
      </p:sp>
      <p:sp>
        <p:nvSpPr>
          <p:cNvPr id="11" name="Shape 9"/>
          <p:cNvSpPr/>
          <p:nvPr/>
        </p:nvSpPr>
        <p:spPr>
          <a:xfrm>
            <a:off x="2706624" y="3282696"/>
            <a:ext cx="329184" cy="0"/>
          </a:xfrm>
          <a:prstGeom prst="line">
            <a:avLst/>
          </a:prstGeom>
          <a:noFill/>
          <a:ln w="15875">
            <a:solidFill>
              <a:srgbClr val="627984"/>
            </a:solidFill>
            <a:prstDash val="solid"/>
            <a:headEnd type="none"/>
            <a:tailEnd type="triangle"/>
          </a:ln>
        </p:spPr>
        <p:txBody>
          <a:bodyPr/>
          <a:lstStyle/>
          <a:p>
            <a:endParaRPr lang="en-GB"/>
          </a:p>
        </p:txBody>
      </p:sp>
      <p:sp>
        <p:nvSpPr>
          <p:cNvPr id="12" name="Shape 10"/>
          <p:cNvSpPr/>
          <p:nvPr/>
        </p:nvSpPr>
        <p:spPr>
          <a:xfrm>
            <a:off x="5138928" y="2084832"/>
            <a:ext cx="365760" cy="0"/>
          </a:xfrm>
          <a:prstGeom prst="line">
            <a:avLst/>
          </a:prstGeom>
          <a:noFill/>
          <a:ln w="15875">
            <a:solidFill>
              <a:srgbClr val="627984"/>
            </a:solidFill>
            <a:prstDash val="solid"/>
            <a:headEnd type="none"/>
            <a:tailEnd type="triangle"/>
          </a:ln>
        </p:spPr>
        <p:txBody>
          <a:bodyPr/>
          <a:lstStyle/>
          <a:p>
            <a:endParaRPr lang="en-GB"/>
          </a:p>
        </p:txBody>
      </p:sp>
      <p:sp>
        <p:nvSpPr>
          <p:cNvPr id="13" name="Shape 11"/>
          <p:cNvSpPr/>
          <p:nvPr/>
        </p:nvSpPr>
        <p:spPr>
          <a:xfrm>
            <a:off x="7571232" y="2084832"/>
            <a:ext cx="621792" cy="0"/>
          </a:xfrm>
          <a:prstGeom prst="line">
            <a:avLst/>
          </a:prstGeom>
          <a:noFill/>
          <a:ln w="15875">
            <a:solidFill>
              <a:srgbClr val="627984"/>
            </a:solidFill>
            <a:prstDash val="solid"/>
            <a:headEnd type="none"/>
            <a:tailEnd type="triangle"/>
          </a:ln>
        </p:spPr>
        <p:txBody>
          <a:bodyPr/>
          <a:lstStyle/>
          <a:p>
            <a:endParaRPr lang="en-GB"/>
          </a:p>
        </p:txBody>
      </p:sp>
      <p:sp>
        <p:nvSpPr>
          <p:cNvPr id="14" name="Shape 12"/>
          <p:cNvSpPr/>
          <p:nvPr/>
        </p:nvSpPr>
        <p:spPr>
          <a:xfrm>
            <a:off x="7571232" y="2084832"/>
            <a:ext cx="621792" cy="475488"/>
          </a:xfrm>
          <a:prstGeom prst="line">
            <a:avLst/>
          </a:prstGeom>
          <a:noFill/>
          <a:ln w="15875">
            <a:solidFill>
              <a:srgbClr val="627984"/>
            </a:solidFill>
            <a:prstDash val="solid"/>
            <a:headEnd type="none"/>
            <a:tailEnd type="triangle"/>
          </a:ln>
        </p:spPr>
        <p:txBody>
          <a:bodyPr/>
          <a:lstStyle/>
          <a:p>
            <a:endParaRPr lang="en-GB"/>
          </a:p>
        </p:txBody>
      </p:sp>
      <p:sp>
        <p:nvSpPr>
          <p:cNvPr id="15" name="Shape 13"/>
          <p:cNvSpPr/>
          <p:nvPr/>
        </p:nvSpPr>
        <p:spPr>
          <a:xfrm>
            <a:off x="7571232" y="2084832"/>
            <a:ext cx="621792" cy="1344168"/>
          </a:xfrm>
          <a:prstGeom prst="line">
            <a:avLst/>
          </a:prstGeom>
          <a:noFill/>
          <a:ln w="15875">
            <a:solidFill>
              <a:srgbClr val="627984"/>
            </a:solidFill>
            <a:prstDash val="solid"/>
            <a:headEnd type="none"/>
            <a:tailEnd type="triangle"/>
          </a:ln>
        </p:spPr>
        <p:txBody>
          <a:bodyPr/>
          <a:lstStyle/>
          <a:p>
            <a:endParaRPr lang="en-GB"/>
          </a:p>
        </p:txBody>
      </p:sp>
      <p:sp>
        <p:nvSpPr>
          <p:cNvPr id="16" name="Text 14"/>
          <p:cNvSpPr/>
          <p:nvPr/>
        </p:nvSpPr>
        <p:spPr>
          <a:xfrm>
            <a:off x="640080" y="1188720"/>
            <a:ext cx="2011680" cy="603504"/>
          </a:xfrm>
          <a:prstGeom prst="roundRect">
            <a:avLst>
              <a:gd name="adj" fmla="val 12121"/>
            </a:avLst>
          </a:prstGeom>
          <a:solidFill>
            <a:srgbClr val="E8F4F1"/>
          </a:solidFill>
          <a:ln w="12700">
            <a:solidFill>
              <a:srgbClr val="2A6B62"/>
            </a:solidFill>
          </a:ln>
        </p:spPr>
        <p:txBody>
          <a:bodyPr wrap="square" lIns="1270" tIns="1270" rIns="1270" bIns="1270" rtlCol="0" anchor="ctr">
            <a:normAutofit/>
          </a:bodyPr>
          <a:lstStyle/>
          <a:p>
            <a:pPr marL="0" indent="0" algn="ctr">
              <a:buNone/>
            </a:pPr>
            <a:r>
              <a:rPr lang="en-US" sz="1050" dirty="0">
                <a:solidFill>
                  <a:srgbClr val="1A3A4A"/>
                </a:solidFill>
              </a:rPr>
              <a:t>iOS App</a:t>
            </a:r>
            <a:endParaRPr lang="en-US" sz="1050" dirty="0"/>
          </a:p>
          <a:p>
            <a:pPr marL="0" indent="0" algn="ctr">
              <a:buNone/>
            </a:pPr>
            <a:r>
              <a:rPr lang="en-US" sz="1050" dirty="0">
                <a:solidFill>
                  <a:srgbClr val="1A3A4A"/>
                </a:solidFill>
              </a:rPr>
              <a:t>Mobile-first user experience</a:t>
            </a:r>
            <a:endParaRPr lang="en-US" sz="1050" dirty="0"/>
          </a:p>
        </p:txBody>
      </p:sp>
      <p:sp>
        <p:nvSpPr>
          <p:cNvPr id="17" name="Text 15"/>
          <p:cNvSpPr/>
          <p:nvPr/>
        </p:nvSpPr>
        <p:spPr>
          <a:xfrm>
            <a:off x="640080" y="2103120"/>
            <a:ext cx="2011680" cy="603504"/>
          </a:xfrm>
          <a:prstGeom prst="roundRect">
            <a:avLst>
              <a:gd name="adj" fmla="val 12121"/>
            </a:avLst>
          </a:prstGeom>
          <a:solidFill>
            <a:srgbClr val="E8F4F1"/>
          </a:solidFill>
          <a:ln w="12700">
            <a:solidFill>
              <a:srgbClr val="2A6B62"/>
            </a:solidFill>
          </a:ln>
        </p:spPr>
        <p:txBody>
          <a:bodyPr wrap="square" lIns="1270" tIns="1270" rIns="1270" bIns="1270" rtlCol="0" anchor="ctr">
            <a:normAutofit/>
          </a:bodyPr>
          <a:lstStyle/>
          <a:p>
            <a:pPr marL="0" indent="0" algn="ctr">
              <a:buNone/>
            </a:pPr>
            <a:r>
              <a:rPr lang="en-US" sz="1050" dirty="0">
                <a:solidFill>
                  <a:srgbClr val="1A3A4A"/>
                </a:solidFill>
              </a:rPr>
              <a:t>Android App</a:t>
            </a:r>
            <a:endParaRPr lang="en-US" sz="1050" dirty="0"/>
          </a:p>
          <a:p>
            <a:pPr marL="0" indent="0" algn="ctr">
              <a:buNone/>
            </a:pPr>
            <a:r>
              <a:rPr lang="en-US" sz="1050" dirty="0">
                <a:solidFill>
                  <a:srgbClr val="1A3A4A"/>
                </a:solidFill>
              </a:rPr>
              <a:t>Mobile-first user experience</a:t>
            </a:r>
            <a:endParaRPr lang="en-US" sz="1050" dirty="0"/>
          </a:p>
        </p:txBody>
      </p:sp>
      <p:sp>
        <p:nvSpPr>
          <p:cNvPr id="18" name="Text 16"/>
          <p:cNvSpPr/>
          <p:nvPr/>
        </p:nvSpPr>
        <p:spPr>
          <a:xfrm>
            <a:off x="640080" y="3017520"/>
            <a:ext cx="2011680" cy="603504"/>
          </a:xfrm>
          <a:prstGeom prst="roundRect">
            <a:avLst>
              <a:gd name="adj" fmla="val 12121"/>
            </a:avLst>
          </a:prstGeom>
          <a:solidFill>
            <a:srgbClr val="E8F4F1"/>
          </a:solidFill>
          <a:ln w="12700">
            <a:solidFill>
              <a:srgbClr val="2A6B62"/>
            </a:solidFill>
          </a:ln>
        </p:spPr>
        <p:txBody>
          <a:bodyPr wrap="square" lIns="1270" tIns="1270" rIns="1270" bIns="1270" rtlCol="0" anchor="ctr">
            <a:normAutofit/>
          </a:bodyPr>
          <a:lstStyle/>
          <a:p>
            <a:pPr marL="0" indent="0" algn="ctr">
              <a:buNone/>
            </a:pPr>
            <a:r>
              <a:rPr lang="en-US" sz="1050" dirty="0">
                <a:solidFill>
                  <a:srgbClr val="1A3A4A"/>
                </a:solidFill>
              </a:rPr>
              <a:t>Browser App</a:t>
            </a:r>
            <a:endParaRPr lang="en-US" sz="1050" dirty="0"/>
          </a:p>
          <a:p>
            <a:pPr marL="0" indent="0" algn="ctr">
              <a:buNone/>
            </a:pPr>
            <a:r>
              <a:rPr lang="en-US" sz="1050" dirty="0">
                <a:solidFill>
                  <a:srgbClr val="1A3A4A"/>
                </a:solidFill>
              </a:rPr>
              <a:t>Responsive web for school/admin</a:t>
            </a:r>
            <a:endParaRPr lang="en-US" sz="1050" dirty="0"/>
          </a:p>
        </p:txBody>
      </p:sp>
      <p:sp>
        <p:nvSpPr>
          <p:cNvPr id="19" name="Text 17"/>
          <p:cNvSpPr/>
          <p:nvPr/>
        </p:nvSpPr>
        <p:spPr>
          <a:xfrm>
            <a:off x="3063240" y="1828800"/>
            <a:ext cx="2011680" cy="603504"/>
          </a:xfrm>
          <a:prstGeom prst="roundRect">
            <a:avLst>
              <a:gd name="adj" fmla="val 12121"/>
            </a:avLst>
          </a:prstGeom>
          <a:solidFill>
            <a:srgbClr val="FFFFFF"/>
          </a:solidFill>
          <a:ln w="12700">
            <a:solidFill>
              <a:srgbClr val="DDE4E8"/>
            </a:solidFill>
          </a:ln>
        </p:spPr>
        <p:txBody>
          <a:bodyPr wrap="square" lIns="1270" tIns="1270" rIns="1270" bIns="1270" rtlCol="0" anchor="ctr">
            <a:normAutofit/>
          </a:bodyPr>
          <a:lstStyle/>
          <a:p>
            <a:pPr marL="0" indent="0" algn="ctr">
              <a:buNone/>
            </a:pPr>
            <a:r>
              <a:rPr lang="en-US" sz="1050" dirty="0">
                <a:solidFill>
                  <a:srgbClr val="1A3A4A"/>
                </a:solidFill>
              </a:rPr>
              <a:t>See My Mind UI</a:t>
            </a:r>
            <a:endParaRPr lang="en-US" sz="1050" dirty="0"/>
          </a:p>
          <a:p>
            <a:pPr marL="0" indent="0" algn="ctr">
              <a:buNone/>
            </a:pPr>
            <a:r>
              <a:rPr lang="en-US" sz="1050" dirty="0">
                <a:solidFill>
                  <a:srgbClr val="1A3A4A"/>
                </a:solidFill>
              </a:rPr>
              <a:t>Custom frontend, role journeys, simplified screens</a:t>
            </a:r>
            <a:endParaRPr lang="en-US" sz="1050" dirty="0"/>
          </a:p>
        </p:txBody>
      </p:sp>
      <p:sp>
        <p:nvSpPr>
          <p:cNvPr id="20" name="Text 18"/>
          <p:cNvSpPr/>
          <p:nvPr/>
        </p:nvSpPr>
        <p:spPr>
          <a:xfrm>
            <a:off x="5532120" y="1828800"/>
            <a:ext cx="2011680" cy="603504"/>
          </a:xfrm>
          <a:prstGeom prst="roundRect">
            <a:avLst>
              <a:gd name="adj" fmla="val 12121"/>
            </a:avLst>
          </a:prstGeom>
          <a:solidFill>
            <a:srgbClr val="1A3A4A"/>
          </a:solidFill>
          <a:ln w="12700">
            <a:solidFill>
              <a:srgbClr val="1A3A4A"/>
            </a:solidFill>
          </a:ln>
        </p:spPr>
        <p:txBody>
          <a:bodyPr wrap="square" lIns="1270" tIns="1270" rIns="1270" bIns="1270" rtlCol="0" anchor="ctr">
            <a:normAutofit/>
          </a:bodyPr>
          <a:lstStyle/>
          <a:p>
            <a:pPr marL="0" indent="0" algn="ctr">
              <a:buNone/>
            </a:pPr>
            <a:r>
              <a:rPr lang="en-US" sz="1050" dirty="0">
                <a:solidFill>
                  <a:srgbClr val="FFFFFF"/>
                </a:solidFill>
              </a:rPr>
              <a:t>Frappe Backend</a:t>
            </a:r>
            <a:endParaRPr lang="en-US" sz="1050" dirty="0"/>
          </a:p>
          <a:p>
            <a:pPr marL="0" indent="0" algn="ctr">
              <a:buNone/>
            </a:pPr>
            <a:r>
              <a:rPr lang="en-US" sz="1050" dirty="0">
                <a:solidFill>
                  <a:srgbClr val="FFFFFF"/>
                </a:solidFill>
              </a:rPr>
              <a:t>DocTypes, roles, workflows, APIs, jobs, audit</a:t>
            </a:r>
            <a:endParaRPr lang="en-US" sz="1050" dirty="0"/>
          </a:p>
        </p:txBody>
      </p:sp>
      <p:sp>
        <p:nvSpPr>
          <p:cNvPr id="21" name="Text 19"/>
          <p:cNvSpPr/>
          <p:nvPr/>
        </p:nvSpPr>
        <p:spPr>
          <a:xfrm>
            <a:off x="8229600" y="1417320"/>
            <a:ext cx="2011680" cy="603504"/>
          </a:xfrm>
          <a:prstGeom prst="roundRect">
            <a:avLst>
              <a:gd name="adj" fmla="val 12121"/>
            </a:avLst>
          </a:prstGeom>
          <a:solidFill>
            <a:srgbClr val="FDF3DC"/>
          </a:solidFill>
          <a:ln w="12700">
            <a:solidFill>
              <a:srgbClr val="E8B84B"/>
            </a:solidFill>
          </a:ln>
        </p:spPr>
        <p:txBody>
          <a:bodyPr wrap="square" lIns="1270" tIns="1270" rIns="1270" bIns="1270" rtlCol="0" anchor="ctr">
            <a:normAutofit/>
          </a:bodyPr>
          <a:lstStyle/>
          <a:p>
            <a:pPr marL="0" indent="0" algn="ctr">
              <a:buNone/>
            </a:pPr>
            <a:r>
              <a:rPr lang="en-US" sz="1050" dirty="0">
                <a:solidFill>
                  <a:srgbClr val="1A3A4A"/>
                </a:solidFill>
              </a:rPr>
              <a:t>MariaDB</a:t>
            </a:r>
            <a:endParaRPr lang="en-US" sz="1050" dirty="0"/>
          </a:p>
          <a:p>
            <a:pPr marL="0" indent="0" algn="ctr">
              <a:buNone/>
            </a:pPr>
            <a:r>
              <a:rPr lang="en-US" sz="1050" dirty="0">
                <a:solidFill>
                  <a:srgbClr val="1A3A4A"/>
                </a:solidFill>
              </a:rPr>
              <a:t>Operational data per site/tenant</a:t>
            </a:r>
            <a:endParaRPr lang="en-US" sz="1050" dirty="0"/>
          </a:p>
        </p:txBody>
      </p:sp>
      <p:sp>
        <p:nvSpPr>
          <p:cNvPr id="22" name="Text 20"/>
          <p:cNvSpPr/>
          <p:nvPr/>
        </p:nvSpPr>
        <p:spPr>
          <a:xfrm>
            <a:off x="8229600" y="2286000"/>
            <a:ext cx="2011680" cy="603504"/>
          </a:xfrm>
          <a:prstGeom prst="roundRect">
            <a:avLst>
              <a:gd name="adj" fmla="val 12121"/>
            </a:avLst>
          </a:prstGeom>
          <a:solidFill>
            <a:srgbClr val="FFFFFF"/>
          </a:solidFill>
          <a:ln w="12700">
            <a:solidFill>
              <a:srgbClr val="DDE4E8"/>
            </a:solidFill>
          </a:ln>
        </p:spPr>
        <p:txBody>
          <a:bodyPr wrap="square" lIns="1270" tIns="1270" rIns="1270" bIns="1270" rtlCol="0" anchor="ctr">
            <a:normAutofit/>
          </a:bodyPr>
          <a:lstStyle/>
          <a:p>
            <a:pPr marL="0" indent="0" algn="ctr">
              <a:buNone/>
            </a:pPr>
            <a:r>
              <a:rPr lang="en-US" sz="1050" dirty="0">
                <a:solidFill>
                  <a:srgbClr val="1A3A4A"/>
                </a:solidFill>
              </a:rPr>
              <a:t>Files &amp; Evidence</a:t>
            </a:r>
            <a:endParaRPr lang="en-US" sz="1050" dirty="0"/>
          </a:p>
          <a:p>
            <a:pPr marL="0" indent="0" algn="ctr">
              <a:buNone/>
            </a:pPr>
            <a:r>
              <a:rPr lang="en-US" sz="1050" dirty="0">
                <a:solidFill>
                  <a:srgbClr val="1A3A4A"/>
                </a:solidFill>
              </a:rPr>
              <a:t>Documents, exports, evidence packs</a:t>
            </a:r>
            <a:endParaRPr lang="en-US" sz="1050" dirty="0"/>
          </a:p>
        </p:txBody>
      </p:sp>
      <p:sp>
        <p:nvSpPr>
          <p:cNvPr id="23" name="Text 21"/>
          <p:cNvSpPr/>
          <p:nvPr/>
        </p:nvSpPr>
        <p:spPr>
          <a:xfrm>
            <a:off x="8229600" y="3154680"/>
            <a:ext cx="2011680" cy="603504"/>
          </a:xfrm>
          <a:prstGeom prst="roundRect">
            <a:avLst>
              <a:gd name="adj" fmla="val 12121"/>
            </a:avLst>
          </a:prstGeom>
          <a:solidFill>
            <a:srgbClr val="DDD8F0"/>
          </a:solidFill>
          <a:ln w="12700">
            <a:solidFill>
              <a:srgbClr val="9B8DC2"/>
            </a:solidFill>
          </a:ln>
        </p:spPr>
        <p:txBody>
          <a:bodyPr wrap="square" lIns="1270" tIns="1270" rIns="1270" bIns="1270" rtlCol="0" anchor="ctr">
            <a:normAutofit/>
          </a:bodyPr>
          <a:lstStyle/>
          <a:p>
            <a:pPr marL="0" indent="0" algn="ctr">
              <a:buNone/>
            </a:pPr>
            <a:r>
              <a:rPr lang="en-US" sz="1050" dirty="0">
                <a:solidFill>
                  <a:srgbClr val="1A3A4A"/>
                </a:solidFill>
              </a:rPr>
              <a:t>AI/RAG Service</a:t>
            </a:r>
            <a:endParaRPr lang="en-US" sz="1050" dirty="0"/>
          </a:p>
          <a:p>
            <a:pPr marL="0" indent="0" algn="ctr">
              <a:buNone/>
            </a:pPr>
            <a:r>
              <a:rPr lang="en-US" sz="1050" dirty="0">
                <a:solidFill>
                  <a:srgbClr val="1A3A4A"/>
                </a:solidFill>
              </a:rPr>
              <a:t>Advisory insights and evidence retrieval</a:t>
            </a:r>
            <a:endParaRPr lang="en-US" sz="1050" dirty="0"/>
          </a:p>
        </p:txBody>
      </p:sp>
      <p:sp>
        <p:nvSpPr>
          <p:cNvPr id="24" name="Text 22"/>
          <p:cNvSpPr/>
          <p:nvPr/>
        </p:nvSpPr>
        <p:spPr>
          <a:xfrm>
            <a:off x="804672" y="4892040"/>
            <a:ext cx="10652760" cy="86868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Important: mobile apps should not bypass Frappe permissions. They should call the same application APIs as the browser experience, with device-specific features such as push notifications and secure storage added at the mobile shell layer.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ARCHITECTURE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User channel strategy</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Mobile is principal usage; browser remains essential for school and administration workflows</a:t>
            </a:r>
            <a:endParaRPr lang="en-US" sz="1100" dirty="0"/>
          </a:p>
        </p:txBody>
      </p:sp>
      <p:sp>
        <p:nvSpPr>
          <p:cNvPr id="9" name="Text 7"/>
          <p:cNvSpPr/>
          <p:nvPr/>
        </p:nvSpPr>
        <p:spPr>
          <a:xfrm>
            <a:off x="685800" y="1234440"/>
            <a:ext cx="2331720" cy="2194560"/>
          </a:xfrm>
          <a:prstGeom prst="roundRect">
            <a:avLst>
              <a:gd name="adj" fmla="val 3333"/>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Parent / Guardian mobile</a:t>
            </a:r>
            <a:endParaRPr lang="en-US" sz="1200" dirty="0"/>
          </a:p>
          <a:p>
            <a:pPr marL="0" indent="0" algn="l">
              <a:buNone/>
            </a:pPr>
            <a:r>
              <a:rPr lang="en-US" sz="1200" dirty="0">
                <a:solidFill>
                  <a:srgbClr val="1A3A4A"/>
                </a:solidFill>
              </a:rPr>
              <a:t>Daily handovers, messages, child summaries, support tips, consent and exports.</a:t>
            </a:r>
            <a:endParaRPr lang="en-US" sz="1200" dirty="0"/>
          </a:p>
        </p:txBody>
      </p:sp>
      <p:sp>
        <p:nvSpPr>
          <p:cNvPr id="10" name="Text 8"/>
          <p:cNvSpPr/>
          <p:nvPr/>
        </p:nvSpPr>
        <p:spPr>
          <a:xfrm>
            <a:off x="3337560" y="1234440"/>
            <a:ext cx="2331720" cy="2194560"/>
          </a:xfrm>
          <a:prstGeom prst="roundRect">
            <a:avLst>
              <a:gd name="adj" fmla="val 3333"/>
            </a:avLst>
          </a:prstGeom>
          <a:solidFill>
            <a:srgbClr val="FFFFFF"/>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Teacher / TA mobile</a:t>
            </a:r>
            <a:endParaRPr lang="en-US" sz="1200" dirty="0"/>
          </a:p>
          <a:p>
            <a:pPr marL="0" indent="0" algn="l">
              <a:buNone/>
            </a:pPr>
            <a:r>
              <a:rPr lang="en-US" sz="1200" dirty="0">
                <a:solidFill>
                  <a:srgbClr val="1A3A4A"/>
                </a:solidFill>
              </a:rPr>
              <a:t>Quick observations, arrival/transition notes, alerts, strategy outcomes.</a:t>
            </a:r>
            <a:endParaRPr lang="en-US" sz="1200" dirty="0"/>
          </a:p>
        </p:txBody>
      </p:sp>
      <p:sp>
        <p:nvSpPr>
          <p:cNvPr id="11" name="Text 9"/>
          <p:cNvSpPr/>
          <p:nvPr/>
        </p:nvSpPr>
        <p:spPr>
          <a:xfrm>
            <a:off x="5989320" y="1234440"/>
            <a:ext cx="2331720" cy="2194560"/>
          </a:xfrm>
          <a:prstGeom prst="roundRect">
            <a:avLst>
              <a:gd name="adj" fmla="val 3333"/>
            </a:avLst>
          </a:prstGeom>
          <a:solidFill>
            <a:srgbClr val="FDF3DC"/>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SENCO / school browser</a:t>
            </a:r>
            <a:endParaRPr lang="en-US" sz="1200" dirty="0"/>
          </a:p>
          <a:p>
            <a:pPr marL="0" indent="0" algn="l">
              <a:buNone/>
            </a:pPr>
            <a:r>
              <a:rPr lang="en-US" sz="1200" dirty="0">
                <a:solidFill>
                  <a:srgbClr val="1A3A4A"/>
                </a:solidFill>
              </a:rPr>
              <a:t>Registers, reviews, EHCP evidence packs, reporting, user/admin controls.</a:t>
            </a:r>
            <a:endParaRPr lang="en-US" sz="1200" dirty="0"/>
          </a:p>
        </p:txBody>
      </p:sp>
      <p:sp>
        <p:nvSpPr>
          <p:cNvPr id="12" name="Text 10"/>
          <p:cNvSpPr/>
          <p:nvPr/>
        </p:nvSpPr>
        <p:spPr>
          <a:xfrm>
            <a:off x="8641080" y="1234440"/>
            <a:ext cx="2331720" cy="2194560"/>
          </a:xfrm>
          <a:prstGeom prst="roundRect">
            <a:avLst>
              <a:gd name="adj" fmla="val 3333"/>
            </a:avLst>
          </a:prstGeom>
          <a:solidFill>
            <a:srgbClr val="DDD8F0"/>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Child view</a:t>
            </a:r>
            <a:endParaRPr lang="en-US" sz="1200" dirty="0"/>
          </a:p>
          <a:p>
            <a:pPr marL="0" indent="0" algn="l">
              <a:buNone/>
            </a:pPr>
            <a:r>
              <a:rPr lang="en-US" sz="1200" dirty="0">
                <a:solidFill>
                  <a:srgbClr val="1A3A4A"/>
                </a:solidFill>
              </a:rPr>
              <a:t>Simple check-ins, toolkit, strengths and self-reporting with age-appropriate controls.</a:t>
            </a:r>
            <a:endParaRPr lang="en-US" sz="1200" dirty="0"/>
          </a:p>
        </p:txBody>
      </p:sp>
      <p:sp>
        <p:nvSpPr>
          <p:cNvPr id="13" name="Text 11"/>
          <p:cNvSpPr/>
          <p:nvPr/>
        </p:nvSpPr>
        <p:spPr>
          <a:xfrm>
            <a:off x="804672" y="4160520"/>
            <a:ext cx="10698480" cy="73152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Recommendation: start with responsive web + PWA-style mobile use for the prototype, then package the mobile experience through Capacitor or a native shell for App Store / Google Play once flows stabilise.</a:t>
            </a:r>
            <a:endParaRPr lang="en-US" sz="1050" dirty="0"/>
          </a:p>
        </p:txBody>
      </p:sp>
      <p:sp>
        <p:nvSpPr>
          <p:cNvPr id="14" name="Text 12"/>
          <p:cNvSpPr/>
          <p:nvPr/>
        </p:nvSpPr>
        <p:spPr>
          <a:xfrm>
            <a:off x="804672" y="5074920"/>
            <a:ext cx="10698480" cy="56692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Do not build two separate native apps at the outset unless push notifications, offline capture, biometrics or app-store credibility justify the added cost.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USER EXPERIENCE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Target UX principles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final interface should feel like See My Mind, not like a generic database front end</a:t>
            </a:r>
            <a:endParaRPr lang="en-US" sz="1100" dirty="0"/>
          </a:p>
        </p:txBody>
      </p:sp>
      <p:sp>
        <p:nvSpPr>
          <p:cNvPr id="9" name="Text 7"/>
          <p:cNvSpPr/>
          <p:nvPr/>
        </p:nvSpPr>
        <p:spPr>
          <a:xfrm>
            <a:off x="685800" y="114300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Simple first action</a:t>
            </a:r>
            <a:endParaRPr lang="en-US" sz="1050" dirty="0"/>
          </a:p>
          <a:p>
            <a:pPr marL="0" indent="0">
              <a:buNone/>
            </a:pPr>
            <a:r>
              <a:rPr lang="en-US" sz="1050" dirty="0">
                <a:solidFill>
                  <a:srgbClr val="3D4F5A"/>
                </a:solidFill>
              </a:rPr>
              <a:t>Parent/teacher can record the day in under a minute.</a:t>
            </a:r>
            <a:endParaRPr lang="en-US" sz="1050" dirty="0"/>
          </a:p>
        </p:txBody>
      </p:sp>
      <p:sp>
        <p:nvSpPr>
          <p:cNvPr id="10" name="Text 8"/>
          <p:cNvSpPr/>
          <p:nvPr/>
        </p:nvSpPr>
        <p:spPr>
          <a:xfrm>
            <a:off x="4389120" y="114300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Role-specific screens</a:t>
            </a:r>
            <a:endParaRPr lang="en-US" sz="1050" dirty="0"/>
          </a:p>
          <a:p>
            <a:pPr marL="0" indent="0">
              <a:buNone/>
            </a:pPr>
            <a:r>
              <a:rPr lang="en-US" sz="1050" dirty="0">
                <a:solidFill>
                  <a:srgbClr val="3D4F5A"/>
                </a:solidFill>
              </a:rPr>
              <a:t>Show only what the role needs: parent, child, teacher, TA, SENCO, admin.</a:t>
            </a:r>
            <a:endParaRPr lang="en-US" sz="1050" dirty="0"/>
          </a:p>
        </p:txBody>
      </p:sp>
      <p:sp>
        <p:nvSpPr>
          <p:cNvPr id="11" name="Text 9"/>
          <p:cNvSpPr/>
          <p:nvPr/>
        </p:nvSpPr>
        <p:spPr>
          <a:xfrm>
            <a:off x="8092440" y="114300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One child timeline</a:t>
            </a:r>
            <a:endParaRPr lang="en-US" sz="1050" dirty="0"/>
          </a:p>
          <a:p>
            <a:pPr marL="0" indent="0">
              <a:buNone/>
            </a:pPr>
            <a:r>
              <a:rPr lang="en-US" sz="1050" dirty="0">
                <a:solidFill>
                  <a:srgbClr val="3D4F5A"/>
                </a:solidFill>
              </a:rPr>
              <a:t>Events, handovers, observations and incidents appear as a coherent story.</a:t>
            </a:r>
            <a:endParaRPr lang="en-US" sz="1050" dirty="0"/>
          </a:p>
        </p:txBody>
      </p:sp>
      <p:sp>
        <p:nvSpPr>
          <p:cNvPr id="12" name="Text 10"/>
          <p:cNvSpPr/>
          <p:nvPr/>
        </p:nvSpPr>
        <p:spPr>
          <a:xfrm>
            <a:off x="685800" y="301752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Low typing burden</a:t>
            </a:r>
            <a:endParaRPr lang="en-US" sz="1050" dirty="0"/>
          </a:p>
          <a:p>
            <a:pPr marL="0" indent="0">
              <a:buNone/>
            </a:pPr>
            <a:r>
              <a:rPr lang="en-US" sz="1050" dirty="0">
                <a:solidFill>
                  <a:srgbClr val="3D4F5A"/>
                </a:solidFill>
              </a:rPr>
              <a:t>Use taps, quick choices, structured prompts and optional notes.</a:t>
            </a:r>
            <a:endParaRPr lang="en-US" sz="1050" dirty="0"/>
          </a:p>
        </p:txBody>
      </p:sp>
      <p:sp>
        <p:nvSpPr>
          <p:cNvPr id="13" name="Text 11"/>
          <p:cNvSpPr/>
          <p:nvPr/>
        </p:nvSpPr>
        <p:spPr>
          <a:xfrm>
            <a:off x="4389120" y="301752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Trust and transparency</a:t>
            </a:r>
            <a:endParaRPr lang="en-US" sz="1050" dirty="0"/>
          </a:p>
          <a:p>
            <a:pPr marL="0" indent="0">
              <a:buNone/>
            </a:pPr>
            <a:r>
              <a:rPr lang="en-US" sz="1050" dirty="0">
                <a:solidFill>
                  <a:srgbClr val="3D4F5A"/>
                </a:solidFill>
              </a:rPr>
              <a:t>Show who reported what, when, and whether it is fact, observation or inference.</a:t>
            </a:r>
            <a:endParaRPr lang="en-US" sz="1050" dirty="0"/>
          </a:p>
        </p:txBody>
      </p:sp>
      <p:sp>
        <p:nvSpPr>
          <p:cNvPr id="14" name="Text 12"/>
          <p:cNvSpPr/>
          <p:nvPr/>
        </p:nvSpPr>
        <p:spPr>
          <a:xfrm>
            <a:off x="8092440" y="3017520"/>
            <a:ext cx="3337560" cy="12070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Accessible by design</a:t>
            </a:r>
            <a:endParaRPr lang="en-US" sz="1050" dirty="0"/>
          </a:p>
          <a:p>
            <a:pPr marL="0" indent="0">
              <a:buNone/>
            </a:pPr>
            <a:r>
              <a:rPr lang="en-US" sz="1050" dirty="0">
                <a:solidFill>
                  <a:srgbClr val="3D4F5A"/>
                </a:solidFill>
              </a:rPr>
              <a:t>Large touch targets, plain language, mobile layouts and low cognitive load.</a:t>
            </a:r>
            <a:endParaRPr lang="en-US" sz="1050" dirty="0"/>
          </a:p>
        </p:txBody>
      </p:sp>
      <p:sp>
        <p:nvSpPr>
          <p:cNvPr id="15" name="Text 13"/>
          <p:cNvSpPr/>
          <p:nvPr/>
        </p:nvSpPr>
        <p:spPr>
          <a:xfrm>
            <a:off x="804672" y="5276088"/>
            <a:ext cx="10698480" cy="54864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The Frappe Desk should remain an admin/development interface. The real product UI should be a custom See My Mind interface over the Frappe backend.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USER EXPERIENCE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User profiles and experiences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Each profile needs a deliberately scoped journey, not a shared generic form</a:t>
            </a:r>
            <a:endParaRPr lang="en-US" sz="1100" dirty="0"/>
          </a:p>
        </p:txBody>
      </p:sp>
      <p:sp>
        <p:nvSpPr>
          <p:cNvPr id="9" name="Text 7"/>
          <p:cNvSpPr/>
          <p:nvPr/>
        </p:nvSpPr>
        <p:spPr>
          <a:xfrm>
            <a:off x="685800" y="1143000"/>
            <a:ext cx="242316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Parent / Guardian</a:t>
            </a:r>
            <a:endParaRPr lang="en-US" sz="1030" dirty="0"/>
          </a:p>
        </p:txBody>
      </p:sp>
      <p:sp>
        <p:nvSpPr>
          <p:cNvPr id="10" name="Text 8"/>
          <p:cNvSpPr/>
          <p:nvPr/>
        </p:nvSpPr>
        <p:spPr>
          <a:xfrm>
            <a:off x="3246120" y="1161288"/>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Morning handover, home observations, messages, daily summary, consent, exports.</a:t>
            </a:r>
            <a:endParaRPr lang="en-US" sz="1060" dirty="0"/>
          </a:p>
        </p:txBody>
      </p:sp>
      <p:sp>
        <p:nvSpPr>
          <p:cNvPr id="11" name="Text 9"/>
          <p:cNvSpPr/>
          <p:nvPr/>
        </p:nvSpPr>
        <p:spPr>
          <a:xfrm>
            <a:off x="685800" y="1709928"/>
            <a:ext cx="242316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Child</a:t>
            </a:r>
            <a:endParaRPr lang="en-US" sz="1030" dirty="0"/>
          </a:p>
        </p:txBody>
      </p:sp>
      <p:sp>
        <p:nvSpPr>
          <p:cNvPr id="12" name="Text 10"/>
          <p:cNvSpPr/>
          <p:nvPr/>
        </p:nvSpPr>
        <p:spPr>
          <a:xfrm>
            <a:off x="3246120" y="1728216"/>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Self check-in, toolkit, strengths, simplified learning/support prompts.</a:t>
            </a:r>
            <a:endParaRPr lang="en-US" sz="1060" dirty="0"/>
          </a:p>
        </p:txBody>
      </p:sp>
      <p:sp>
        <p:nvSpPr>
          <p:cNvPr id="13" name="Text 11"/>
          <p:cNvSpPr/>
          <p:nvPr/>
        </p:nvSpPr>
        <p:spPr>
          <a:xfrm>
            <a:off x="685800" y="2276856"/>
            <a:ext cx="242316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Teacher</a:t>
            </a:r>
            <a:endParaRPr lang="en-US" sz="1030" dirty="0"/>
          </a:p>
        </p:txBody>
      </p:sp>
      <p:sp>
        <p:nvSpPr>
          <p:cNvPr id="14" name="Text 12"/>
          <p:cNvSpPr/>
          <p:nvPr/>
        </p:nvSpPr>
        <p:spPr>
          <a:xfrm>
            <a:off x="3246120" y="2295144"/>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Class dashboard, quick observation, timeline, strategies, parent visibility.</a:t>
            </a:r>
            <a:endParaRPr lang="en-US" sz="1060" dirty="0"/>
          </a:p>
        </p:txBody>
      </p:sp>
      <p:sp>
        <p:nvSpPr>
          <p:cNvPr id="15" name="Text 13"/>
          <p:cNvSpPr/>
          <p:nvPr/>
        </p:nvSpPr>
        <p:spPr>
          <a:xfrm>
            <a:off x="685800" y="2843784"/>
            <a:ext cx="242316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Teaching Assistant</a:t>
            </a:r>
            <a:endParaRPr lang="en-US" sz="1030" dirty="0"/>
          </a:p>
        </p:txBody>
      </p:sp>
      <p:sp>
        <p:nvSpPr>
          <p:cNvPr id="16" name="Text 14"/>
          <p:cNvSpPr/>
          <p:nvPr/>
        </p:nvSpPr>
        <p:spPr>
          <a:xfrm>
            <a:off x="3246120" y="2862072"/>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Assigned pupils, immediate actions, quick log, transition support.</a:t>
            </a:r>
            <a:endParaRPr lang="en-US" sz="1060" dirty="0"/>
          </a:p>
        </p:txBody>
      </p:sp>
      <p:sp>
        <p:nvSpPr>
          <p:cNvPr id="17" name="Text 15"/>
          <p:cNvSpPr/>
          <p:nvPr/>
        </p:nvSpPr>
        <p:spPr>
          <a:xfrm>
            <a:off x="685800" y="3410712"/>
            <a:ext cx="242316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SENCO / SEND Lead</a:t>
            </a:r>
            <a:endParaRPr lang="en-US" sz="1030" dirty="0"/>
          </a:p>
        </p:txBody>
      </p:sp>
      <p:sp>
        <p:nvSpPr>
          <p:cNvPr id="18" name="Text 16"/>
          <p:cNvSpPr/>
          <p:nvPr/>
        </p:nvSpPr>
        <p:spPr>
          <a:xfrm>
            <a:off x="3246120" y="3429000"/>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Register, reviews, evidence, interventions, reports, restricted cases.</a:t>
            </a:r>
            <a:endParaRPr lang="en-US" sz="1060" dirty="0"/>
          </a:p>
        </p:txBody>
      </p:sp>
      <p:sp>
        <p:nvSpPr>
          <p:cNvPr id="19" name="Text 17"/>
          <p:cNvSpPr/>
          <p:nvPr/>
        </p:nvSpPr>
        <p:spPr>
          <a:xfrm>
            <a:off x="685800" y="3977640"/>
            <a:ext cx="242316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School Admin / Head</a:t>
            </a:r>
            <a:endParaRPr lang="en-US" sz="1030" dirty="0"/>
          </a:p>
        </p:txBody>
      </p:sp>
      <p:sp>
        <p:nvSpPr>
          <p:cNvPr id="20" name="Text 18"/>
          <p:cNvSpPr/>
          <p:nvPr/>
        </p:nvSpPr>
        <p:spPr>
          <a:xfrm>
            <a:off x="3246120" y="3995928"/>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Users, roles, school data, reporting, governance and audit.</a:t>
            </a:r>
            <a:endParaRPr lang="en-US" sz="1060" dirty="0"/>
          </a:p>
        </p:txBody>
      </p:sp>
      <p:sp>
        <p:nvSpPr>
          <p:cNvPr id="21" name="Text 19"/>
          <p:cNvSpPr/>
          <p:nvPr/>
        </p:nvSpPr>
        <p:spPr>
          <a:xfrm>
            <a:off x="685800" y="4544568"/>
            <a:ext cx="242316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Specialist / External Professional</a:t>
            </a:r>
            <a:endParaRPr lang="en-US" sz="1030" dirty="0"/>
          </a:p>
        </p:txBody>
      </p:sp>
      <p:sp>
        <p:nvSpPr>
          <p:cNvPr id="22" name="Text 20"/>
          <p:cNvSpPr/>
          <p:nvPr/>
        </p:nvSpPr>
        <p:spPr>
          <a:xfrm>
            <a:off x="3246120" y="4562856"/>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Bounded read/write access where consent and school policy allow.</a:t>
            </a:r>
            <a:endParaRPr lang="en-US" sz="1060" dirty="0"/>
          </a:p>
        </p:txBody>
      </p:sp>
      <p:sp>
        <p:nvSpPr>
          <p:cNvPr id="23" name="Text 21"/>
          <p:cNvSpPr/>
          <p:nvPr/>
        </p:nvSpPr>
        <p:spPr>
          <a:xfrm>
            <a:off x="685800" y="5111496"/>
            <a:ext cx="242316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30" dirty="0">
                <a:solidFill>
                  <a:srgbClr val="1A3A4A"/>
                </a:solidFill>
              </a:rPr>
              <a:t>See My Mind Admin</a:t>
            </a:r>
            <a:endParaRPr lang="en-US" sz="1030" dirty="0"/>
          </a:p>
        </p:txBody>
      </p:sp>
      <p:sp>
        <p:nvSpPr>
          <p:cNvPr id="24" name="Text 22"/>
          <p:cNvSpPr/>
          <p:nvPr/>
        </p:nvSpPr>
        <p:spPr>
          <a:xfrm>
            <a:off x="3246120" y="5129784"/>
            <a:ext cx="8046720" cy="32918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Tenant provisioning, product support, configuration, release governance.</a:t>
            </a:r>
            <a:endParaRPr lang="en-US" sz="10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02</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02. Platform and Application Layers</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Frappe as the controlled product core, not merely an admin tool</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TECHNOLOGY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Recommended technology stack</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Confirmed working POC stack and target production posture</a:t>
            </a:r>
            <a:endParaRPr lang="en-US" sz="1100" dirty="0"/>
          </a:p>
        </p:txBody>
      </p:sp>
      <p:sp>
        <p:nvSpPr>
          <p:cNvPr id="9" name="Text 7"/>
          <p:cNvSpPr/>
          <p:nvPr/>
        </p:nvSpPr>
        <p:spPr>
          <a:xfrm>
            <a:off x="685800" y="1216152"/>
            <a:ext cx="2103120" cy="438912"/>
          </a:xfrm>
          <a:prstGeom prst="roundRect">
            <a:avLst>
              <a:gd name="adj" fmla="val 16667"/>
            </a:avLst>
          </a:prstGeom>
          <a:solidFill>
            <a:srgbClr val="1A3A4A"/>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FFFFFF"/>
                </a:solidFill>
              </a:rPr>
              <a:t>Frontend</a:t>
            </a:r>
            <a:endParaRPr lang="en-US" sz="1050" dirty="0"/>
          </a:p>
        </p:txBody>
      </p:sp>
      <p:sp>
        <p:nvSpPr>
          <p:cNvPr id="10" name="Text 8"/>
          <p:cNvSpPr/>
          <p:nvPr/>
        </p:nvSpPr>
        <p:spPr>
          <a:xfrm>
            <a:off x="2971800" y="1271016"/>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Custom See My Mind UI, responsive web, mobile-first layout, later Capacitor/native wrapper</a:t>
            </a:r>
            <a:endParaRPr lang="en-US" sz="1120" dirty="0"/>
          </a:p>
        </p:txBody>
      </p:sp>
      <p:sp>
        <p:nvSpPr>
          <p:cNvPr id="11" name="Text 9"/>
          <p:cNvSpPr/>
          <p:nvPr/>
        </p:nvSpPr>
        <p:spPr>
          <a:xfrm>
            <a:off x="685800" y="1828800"/>
            <a:ext cx="2103120" cy="438912"/>
          </a:xfrm>
          <a:prstGeom prst="roundRect">
            <a:avLst>
              <a:gd name="adj" fmla="val 16667"/>
            </a:avLst>
          </a:prstGeom>
          <a:solidFill>
            <a:srgbClr val="2A6B62"/>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FFFFFF"/>
                </a:solidFill>
              </a:rPr>
              <a:t>Application framework</a:t>
            </a:r>
            <a:endParaRPr lang="en-US" sz="1050" dirty="0"/>
          </a:p>
        </p:txBody>
      </p:sp>
      <p:sp>
        <p:nvSpPr>
          <p:cNvPr id="12" name="Text 10"/>
          <p:cNvSpPr/>
          <p:nvPr/>
        </p:nvSpPr>
        <p:spPr>
          <a:xfrm>
            <a:off x="2971800" y="1883664"/>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Frappe Framework v16 app with DocTypes, controllers, roles, hooks, background jobs and reports</a:t>
            </a:r>
            <a:endParaRPr lang="en-US" sz="1120" dirty="0"/>
          </a:p>
        </p:txBody>
      </p:sp>
      <p:sp>
        <p:nvSpPr>
          <p:cNvPr id="13" name="Text 11"/>
          <p:cNvSpPr/>
          <p:nvPr/>
        </p:nvSpPr>
        <p:spPr>
          <a:xfrm>
            <a:off x="685800" y="2441448"/>
            <a:ext cx="2103120" cy="438912"/>
          </a:xfrm>
          <a:prstGeom prst="roundRect">
            <a:avLst>
              <a:gd name="adj" fmla="val 16667"/>
            </a:avLst>
          </a:prstGeom>
          <a:solidFill>
            <a:srgbClr val="E8B84B"/>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Database</a:t>
            </a:r>
            <a:endParaRPr lang="en-US" sz="1050" dirty="0"/>
          </a:p>
        </p:txBody>
      </p:sp>
      <p:sp>
        <p:nvSpPr>
          <p:cNvPr id="14" name="Text 12"/>
          <p:cNvSpPr/>
          <p:nvPr/>
        </p:nvSpPr>
        <p:spPr>
          <a:xfrm>
            <a:off x="2971800" y="2496312"/>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MariaDB as primary Frappe operational database for MVP and production baseline</a:t>
            </a:r>
            <a:endParaRPr lang="en-US" sz="1120" dirty="0"/>
          </a:p>
        </p:txBody>
      </p:sp>
      <p:sp>
        <p:nvSpPr>
          <p:cNvPr id="15" name="Text 13"/>
          <p:cNvSpPr/>
          <p:nvPr/>
        </p:nvSpPr>
        <p:spPr>
          <a:xfrm>
            <a:off x="685800" y="3054096"/>
            <a:ext cx="2103120" cy="438912"/>
          </a:xfrm>
          <a:prstGeom prst="roundRect">
            <a:avLst>
              <a:gd name="adj" fmla="val 16667"/>
            </a:avLst>
          </a:prstGeom>
          <a:solidFill>
            <a:srgbClr val="9ECFC4"/>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Workflow</a:t>
            </a:r>
            <a:endParaRPr lang="en-US" sz="1050" dirty="0"/>
          </a:p>
        </p:txBody>
      </p:sp>
      <p:sp>
        <p:nvSpPr>
          <p:cNvPr id="16" name="Text 14"/>
          <p:cNvSpPr/>
          <p:nvPr/>
        </p:nvSpPr>
        <p:spPr>
          <a:xfrm>
            <a:off x="2971800" y="3108960"/>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Frappe workflows, controller hooks, notifications, scheduled jobs and rule evaluation</a:t>
            </a:r>
            <a:endParaRPr lang="en-US" sz="1120" dirty="0"/>
          </a:p>
        </p:txBody>
      </p:sp>
      <p:sp>
        <p:nvSpPr>
          <p:cNvPr id="17" name="Text 15"/>
          <p:cNvSpPr/>
          <p:nvPr/>
        </p:nvSpPr>
        <p:spPr>
          <a:xfrm>
            <a:off x="685800" y="3666744"/>
            <a:ext cx="2103120" cy="438912"/>
          </a:xfrm>
          <a:prstGeom prst="roundRect">
            <a:avLst>
              <a:gd name="adj" fmla="val 16667"/>
            </a:avLst>
          </a:prstGeom>
          <a:solidFill>
            <a:srgbClr val="FFFFFF"/>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Integration</a:t>
            </a:r>
            <a:endParaRPr lang="en-US" sz="1050" dirty="0"/>
          </a:p>
        </p:txBody>
      </p:sp>
      <p:sp>
        <p:nvSpPr>
          <p:cNvPr id="18" name="Text 16"/>
          <p:cNvSpPr/>
          <p:nvPr/>
        </p:nvSpPr>
        <p:spPr>
          <a:xfrm>
            <a:off x="2971800" y="3721608"/>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Frappe REST APIs, whitelisted methods, file import/export, future school/MIS connectors</a:t>
            </a:r>
            <a:endParaRPr lang="en-US" sz="1120" dirty="0"/>
          </a:p>
        </p:txBody>
      </p:sp>
      <p:sp>
        <p:nvSpPr>
          <p:cNvPr id="19" name="Text 17"/>
          <p:cNvSpPr/>
          <p:nvPr/>
        </p:nvSpPr>
        <p:spPr>
          <a:xfrm>
            <a:off x="685800" y="4279392"/>
            <a:ext cx="2103120" cy="438912"/>
          </a:xfrm>
          <a:prstGeom prst="roundRect">
            <a:avLst>
              <a:gd name="adj" fmla="val 16667"/>
            </a:avLst>
          </a:prstGeom>
          <a:solidFill>
            <a:srgbClr val="DDD8F0"/>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AI/RAG</a:t>
            </a:r>
            <a:endParaRPr lang="en-US" sz="1050" dirty="0"/>
          </a:p>
        </p:txBody>
      </p:sp>
      <p:sp>
        <p:nvSpPr>
          <p:cNvPr id="20" name="Text 18"/>
          <p:cNvSpPr/>
          <p:nvPr/>
        </p:nvSpPr>
        <p:spPr>
          <a:xfrm>
            <a:off x="2971800" y="4334256"/>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Separate AI service/vector index with Frappe-held provenance and human review records</a:t>
            </a:r>
            <a:endParaRPr lang="en-US" sz="1120" dirty="0"/>
          </a:p>
        </p:txBody>
      </p:sp>
      <p:sp>
        <p:nvSpPr>
          <p:cNvPr id="21" name="Text 19"/>
          <p:cNvSpPr/>
          <p:nvPr/>
        </p:nvSpPr>
        <p:spPr>
          <a:xfrm>
            <a:off x="685800" y="4892040"/>
            <a:ext cx="2103120" cy="438912"/>
          </a:xfrm>
          <a:prstGeom prst="roundRect">
            <a:avLst>
              <a:gd name="adj" fmla="val 16667"/>
            </a:avLst>
          </a:prstGeom>
          <a:solidFill>
            <a:srgbClr val="EDF2F4"/>
          </a:solidFill>
          <a:ln w="12700">
            <a:solidFill>
              <a:srgbClr val="1A3A4A"/>
            </a:solidFill>
          </a:ln>
        </p:spPr>
        <p:txBody>
          <a:bodyPr wrap="square" lIns="1270" tIns="1270" rIns="1270" bIns="1270" rtlCol="0" anchor="ctr">
            <a:normAutofit/>
          </a:bodyPr>
          <a:lstStyle/>
          <a:p>
            <a:pPr marL="0" indent="0" algn="l">
              <a:buNone/>
            </a:pPr>
            <a:r>
              <a:rPr lang="en-US" sz="1050" dirty="0">
                <a:solidFill>
                  <a:srgbClr val="1A3A4A"/>
                </a:solidFill>
              </a:rPr>
              <a:t>Hosting</a:t>
            </a:r>
            <a:endParaRPr lang="en-US" sz="1050" dirty="0"/>
          </a:p>
        </p:txBody>
      </p:sp>
      <p:sp>
        <p:nvSpPr>
          <p:cNvPr id="22" name="Text 20"/>
          <p:cNvSpPr/>
          <p:nvPr/>
        </p:nvSpPr>
        <p:spPr>
          <a:xfrm>
            <a:off x="2971800" y="4946904"/>
            <a:ext cx="8503920" cy="310896"/>
          </a:xfrm>
          <a:prstGeom prst="rect">
            <a:avLst/>
          </a:prstGeom>
          <a:noFill/>
          <a:ln/>
        </p:spPr>
        <p:txBody>
          <a:bodyPr wrap="square" lIns="254" tIns="254" rIns="254" bIns="254" rtlCol="0" anchor="t">
            <a:normAutofit/>
          </a:bodyPr>
          <a:lstStyle/>
          <a:p>
            <a:pPr marL="0" indent="0" algn="l">
              <a:buNone/>
            </a:pPr>
            <a:r>
              <a:rPr lang="en-US" sz="1120" dirty="0">
                <a:solidFill>
                  <a:srgbClr val="3D4F5A"/>
                </a:solidFill>
              </a:rPr>
              <a:t>DEV local Docker, UAT hosted site, production managed hosting with HTTPS, backups and monitoring</a:t>
            </a:r>
            <a:endParaRPr lang="en-US" sz="1120" dirty="0"/>
          </a:p>
        </p:txBody>
      </p:sp>
      <p:sp>
        <p:nvSpPr>
          <p:cNvPr id="23" name="Text 21"/>
          <p:cNvSpPr/>
          <p:nvPr/>
        </p:nvSpPr>
        <p:spPr>
          <a:xfrm>
            <a:off x="502920" y="6272784"/>
            <a:ext cx="11155680" cy="137160"/>
          </a:xfrm>
          <a:prstGeom prst="rect">
            <a:avLst/>
          </a:prstGeom>
          <a:noFill/>
          <a:ln/>
        </p:spPr>
        <p:txBody>
          <a:bodyPr wrap="square" lIns="0" tIns="0" rIns="0" bIns="0" rtlCol="0" anchor="ctr"/>
          <a:lstStyle/>
          <a:p>
            <a:pPr marL="0" indent="0">
              <a:buNone/>
            </a:pPr>
            <a:r>
              <a:rPr lang="en-US" sz="650" dirty="0">
                <a:solidFill>
                  <a:srgbClr val="627984"/>
                </a:solidFill>
              </a:rPr>
              <a:t>Source assumptions: Frappe Framework docs on Apps, Sites, REST API, Reports, Permissions, Two Factor Authentication and Multi-tenancy. MariaDB is the recommended initial database for this Frappe implementation.</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TECHNOLOGY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Frappe application layer</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What Frappe should own inside See My Mind</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DocTypes and schema</a:t>
            </a:r>
            <a:endParaRPr lang="en-US" sz="1050" dirty="0"/>
          </a:p>
          <a:p>
            <a:pPr marL="0" indent="0">
              <a:buNone/>
            </a:pPr>
            <a:r>
              <a:rPr lang="en-US" sz="1050" dirty="0">
                <a:solidFill>
                  <a:srgbClr val="3D4F5A"/>
                </a:solidFill>
              </a:rPr>
              <a:t>School, Child, Guardian, Staff, Event, Observation, Incident, Support Profile, EHCP and AI provenance objects.</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Controllers and hooks</a:t>
            </a:r>
            <a:endParaRPr lang="en-US" sz="1050" dirty="0"/>
          </a:p>
          <a:p>
            <a:pPr marL="0" indent="0">
              <a:buNone/>
            </a:pPr>
            <a:r>
              <a:rPr lang="en-US" sz="1050" dirty="0">
                <a:solidFill>
                  <a:srgbClr val="3D4F5A"/>
                </a:solidFill>
              </a:rPr>
              <a:t>Server-side business rules: populate display names, snapshot school, create linked timeline records, validate assignments.</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Permissions and roles</a:t>
            </a:r>
            <a:endParaRPr lang="en-US" sz="1050" dirty="0"/>
          </a:p>
          <a:p>
            <a:pPr marL="0" indent="0">
              <a:buNone/>
            </a:pPr>
            <a:r>
              <a:rPr lang="en-US" sz="1050" dirty="0">
                <a:solidFill>
                  <a:srgbClr val="3D4F5A"/>
                </a:solidFill>
              </a:rPr>
              <a:t>Role permissions, user permissions, record-level constraints, export controls and admin segmentation.</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Workflow and background jobs</a:t>
            </a:r>
            <a:endParaRPr lang="en-US" sz="1050" dirty="0"/>
          </a:p>
          <a:p>
            <a:pPr marL="0" indent="0">
              <a:buNone/>
            </a:pPr>
            <a:r>
              <a:rPr lang="en-US" sz="1050" dirty="0">
                <a:solidFill>
                  <a:srgbClr val="3D4F5A"/>
                </a:solidFill>
              </a:rPr>
              <a:t>Status transitions, notifications, scheduled checks, escalation rules and review creation.</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Reports and dashboards</a:t>
            </a:r>
            <a:endParaRPr lang="en-US" sz="1050" dirty="0"/>
          </a:p>
          <a:p>
            <a:pPr marL="0" indent="0">
              <a:buNone/>
            </a:pPr>
            <a:r>
              <a:rPr lang="en-US" sz="1050" dirty="0">
                <a:solidFill>
                  <a:srgbClr val="3D4F5A"/>
                </a:solidFill>
              </a:rPr>
              <a:t>Operational lists, saved reports, script reports, evidence packs and summary dashboards.</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API surface</a:t>
            </a:r>
            <a:endParaRPr lang="en-US" sz="1050" dirty="0"/>
          </a:p>
          <a:p>
            <a:pPr marL="0" indent="0">
              <a:buNone/>
            </a:pPr>
            <a:r>
              <a:rPr lang="en-US" sz="1050" dirty="0">
                <a:solidFill>
                  <a:srgbClr val="3D4F5A"/>
                </a:solidFill>
              </a:rPr>
              <a:t>Whitelisted methods for mobile/browser UI; DocType REST API only where appropriately controlled.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TECHNOLOGY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Database and storage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MariaDB is the recommended operational database for the Frappe-based MVP</a:t>
            </a:r>
            <a:endParaRPr lang="en-US" sz="1100" dirty="0"/>
          </a:p>
        </p:txBody>
      </p:sp>
      <p:sp>
        <p:nvSpPr>
          <p:cNvPr id="9" name="Text 7"/>
          <p:cNvSpPr/>
          <p:nvPr/>
        </p:nvSpPr>
        <p:spPr>
          <a:xfrm>
            <a:off x="685800" y="1280160"/>
            <a:ext cx="2834640" cy="1417320"/>
          </a:xfrm>
          <a:prstGeom prst="roundRect">
            <a:avLst>
              <a:gd name="adj" fmla="val 5161"/>
            </a:avLst>
          </a:prstGeom>
          <a:solidFill>
            <a:srgbClr val="FDF3DC"/>
          </a:solidFill>
          <a:ln w="12700">
            <a:solidFill>
              <a:srgbClr val="E8B84B"/>
            </a:solidFill>
          </a:ln>
        </p:spPr>
        <p:txBody>
          <a:bodyPr wrap="square" lIns="1270" tIns="1270" rIns="1270" bIns="1270" rtlCol="0" anchor="ctr">
            <a:normAutofit/>
          </a:bodyPr>
          <a:lstStyle/>
          <a:p>
            <a:pPr marL="0" indent="0" algn="ctr">
              <a:buNone/>
            </a:pPr>
            <a:r>
              <a:rPr lang="en-US" sz="1400" dirty="0">
                <a:solidFill>
                  <a:srgbClr val="1A3A4A"/>
                </a:solidFill>
              </a:rPr>
              <a:t>MariaDB</a:t>
            </a:r>
            <a:endParaRPr lang="en-US" sz="1400" dirty="0"/>
          </a:p>
          <a:p>
            <a:pPr marL="0" indent="0" algn="ctr">
              <a:buNone/>
            </a:pPr>
            <a:r>
              <a:rPr lang="en-US" sz="1400" dirty="0">
                <a:solidFill>
                  <a:srgbClr val="1A3A4A"/>
                </a:solidFill>
              </a:rPr>
              <a:t>Frappe operational database</a:t>
            </a:r>
            <a:endParaRPr lang="en-US" sz="1400" dirty="0"/>
          </a:p>
          <a:p>
            <a:pPr marL="0" indent="0" algn="ctr">
              <a:buNone/>
            </a:pPr>
            <a:r>
              <a:rPr lang="en-US" sz="1400" dirty="0">
                <a:solidFill>
                  <a:srgbClr val="1A3A4A"/>
                </a:solidFill>
              </a:rPr>
              <a:t>DocTypes become tab* tables</a:t>
            </a:r>
            <a:endParaRPr lang="en-US" sz="1400" dirty="0"/>
          </a:p>
        </p:txBody>
      </p:sp>
      <p:sp>
        <p:nvSpPr>
          <p:cNvPr id="10" name="Text 8"/>
          <p:cNvSpPr/>
          <p:nvPr/>
        </p:nvSpPr>
        <p:spPr>
          <a:xfrm>
            <a:off x="4617720" y="1280160"/>
            <a:ext cx="2834640" cy="1417320"/>
          </a:xfrm>
          <a:prstGeom prst="roundRect">
            <a:avLst>
              <a:gd name="adj" fmla="val 5161"/>
            </a:avLst>
          </a:prstGeom>
          <a:solidFill>
            <a:srgbClr val="FFFFFF"/>
          </a:solidFill>
          <a:ln w="12700">
            <a:solidFill>
              <a:srgbClr val="DDE4E8"/>
            </a:solidFill>
          </a:ln>
        </p:spPr>
        <p:txBody>
          <a:bodyPr wrap="square" lIns="1270" tIns="1270" rIns="1270" bIns="1270" rtlCol="0" anchor="ctr">
            <a:normAutofit/>
          </a:bodyPr>
          <a:lstStyle/>
          <a:p>
            <a:pPr marL="0" indent="0" algn="ctr">
              <a:buNone/>
            </a:pPr>
            <a:r>
              <a:rPr lang="en-US" sz="1400" dirty="0">
                <a:solidFill>
                  <a:srgbClr val="1A3A4A"/>
                </a:solidFill>
              </a:rPr>
              <a:t>File Storage</a:t>
            </a:r>
            <a:endParaRPr lang="en-US" sz="1400" dirty="0"/>
          </a:p>
          <a:p>
            <a:pPr marL="0" indent="0" algn="ctr">
              <a:buNone/>
            </a:pPr>
            <a:r>
              <a:rPr lang="en-US" sz="1400" dirty="0">
                <a:solidFill>
                  <a:srgbClr val="1A3A4A"/>
                </a:solidFill>
              </a:rPr>
              <a:t>Attachments, documents, evidence packs, generated exports</a:t>
            </a:r>
            <a:endParaRPr lang="en-US" sz="1400" dirty="0"/>
          </a:p>
        </p:txBody>
      </p:sp>
      <p:sp>
        <p:nvSpPr>
          <p:cNvPr id="11" name="Text 9"/>
          <p:cNvSpPr/>
          <p:nvPr/>
        </p:nvSpPr>
        <p:spPr>
          <a:xfrm>
            <a:off x="8549640" y="1280160"/>
            <a:ext cx="2834640" cy="1417320"/>
          </a:xfrm>
          <a:prstGeom prst="roundRect">
            <a:avLst>
              <a:gd name="adj" fmla="val 5161"/>
            </a:avLst>
          </a:prstGeom>
          <a:solidFill>
            <a:srgbClr val="E8F4F1"/>
          </a:solidFill>
          <a:ln w="12700">
            <a:solidFill>
              <a:srgbClr val="9ECFC4"/>
            </a:solidFill>
          </a:ln>
        </p:spPr>
        <p:txBody>
          <a:bodyPr wrap="square" lIns="1270" tIns="1270" rIns="1270" bIns="1270" rtlCol="0" anchor="ctr">
            <a:normAutofit/>
          </a:bodyPr>
          <a:lstStyle/>
          <a:p>
            <a:pPr marL="0" indent="0" algn="ctr">
              <a:buNone/>
            </a:pPr>
            <a:r>
              <a:rPr lang="en-US" sz="1400" dirty="0">
                <a:solidFill>
                  <a:srgbClr val="1A3A4A"/>
                </a:solidFill>
              </a:rPr>
              <a:t>Analytics Store</a:t>
            </a:r>
            <a:endParaRPr lang="en-US" sz="1400" dirty="0"/>
          </a:p>
          <a:p>
            <a:pPr marL="0" indent="0" algn="ctr">
              <a:buNone/>
            </a:pPr>
            <a:r>
              <a:rPr lang="en-US" sz="1400" dirty="0">
                <a:solidFill>
                  <a:srgbClr val="1A3A4A"/>
                </a:solidFill>
              </a:rPr>
              <a:t>Optional snapshots/materialised reporting layer as scale grows</a:t>
            </a:r>
            <a:endParaRPr lang="en-US" sz="1400" dirty="0"/>
          </a:p>
        </p:txBody>
      </p:sp>
      <p:sp>
        <p:nvSpPr>
          <p:cNvPr id="12" name="Text 10"/>
          <p:cNvSpPr/>
          <p:nvPr/>
        </p:nvSpPr>
        <p:spPr>
          <a:xfrm>
            <a:off x="804672" y="3657600"/>
            <a:ext cx="10652760" cy="68580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Why MariaDB now: the current local Frappe v16 development stack uses MariaDB 11.8, Frappe production usage is strongly established on MariaDB, and this reduces platform risk for an October-oriented MVP.</a:t>
            </a:r>
            <a:endParaRPr lang="en-US" sz="1050" dirty="0"/>
          </a:p>
        </p:txBody>
      </p:sp>
      <p:sp>
        <p:nvSpPr>
          <p:cNvPr id="13" name="Text 11"/>
          <p:cNvSpPr/>
          <p:nvPr/>
        </p:nvSpPr>
        <p:spPr>
          <a:xfrm>
            <a:off x="804672" y="4535424"/>
            <a:ext cx="10652760" cy="65836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PostgreSQL can be revisited later only if Frappe support and project requirements justify it. The current design should not add database migration risk before the product and security model have stabilised.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TECHNOLOGY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Environment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Separate development, UAT and production from the start</a:t>
            </a:r>
            <a:endParaRPr lang="en-US" sz="1100" dirty="0"/>
          </a:p>
        </p:txBody>
      </p:sp>
      <p:sp>
        <p:nvSpPr>
          <p:cNvPr id="9" name="Text 7"/>
          <p:cNvSpPr/>
          <p:nvPr/>
        </p:nvSpPr>
        <p:spPr>
          <a:xfrm>
            <a:off x="868680" y="1417320"/>
            <a:ext cx="3017520" cy="2240280"/>
          </a:xfrm>
          <a:prstGeom prst="roundRect">
            <a:avLst>
              <a:gd name="adj" fmla="val 3265"/>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300" dirty="0">
                <a:solidFill>
                  <a:srgbClr val="1A3A4A"/>
                </a:solidFill>
              </a:rPr>
              <a:t>DEV</a:t>
            </a:r>
            <a:endParaRPr lang="en-US" sz="1300" dirty="0"/>
          </a:p>
          <a:p>
            <a:pPr marL="0" indent="0" algn="l">
              <a:buNone/>
            </a:pPr>
            <a:r>
              <a:rPr lang="en-US" sz="1300" dirty="0">
                <a:solidFill>
                  <a:srgbClr val="1A3A4A"/>
                </a:solidFill>
              </a:rPr>
              <a:t>Developer test data only</a:t>
            </a:r>
            <a:endParaRPr lang="en-US" sz="1300" dirty="0"/>
          </a:p>
          <a:p>
            <a:pPr marL="0" indent="0" algn="l">
              <a:buNone/>
            </a:pPr>
            <a:r>
              <a:rPr lang="en-US" sz="1300" dirty="0">
                <a:solidFill>
                  <a:srgbClr val="1A3A4A"/>
                </a:solidFill>
              </a:rPr>
              <a:t>Local Docker / Frappe bench</a:t>
            </a:r>
            <a:endParaRPr lang="en-US" sz="1300" dirty="0"/>
          </a:p>
          <a:p>
            <a:pPr marL="0" indent="0" algn="l">
              <a:buNone/>
            </a:pPr>
            <a:r>
              <a:rPr lang="en-US" sz="1300" dirty="0">
                <a:solidFill>
                  <a:srgbClr val="1A3A4A"/>
                </a:solidFill>
              </a:rPr>
              <a:t>Fast iteration and schema work</a:t>
            </a:r>
            <a:endParaRPr lang="en-US" sz="1300" dirty="0"/>
          </a:p>
        </p:txBody>
      </p:sp>
      <p:sp>
        <p:nvSpPr>
          <p:cNvPr id="10" name="Text 8"/>
          <p:cNvSpPr/>
          <p:nvPr/>
        </p:nvSpPr>
        <p:spPr>
          <a:xfrm>
            <a:off x="4572000" y="1417320"/>
            <a:ext cx="3017520" cy="2240280"/>
          </a:xfrm>
          <a:prstGeom prst="roundRect">
            <a:avLst>
              <a:gd name="adj" fmla="val 3265"/>
            </a:avLst>
          </a:prstGeom>
          <a:solidFill>
            <a:srgbClr val="FDF3DC"/>
          </a:solidFill>
          <a:ln w="12700">
            <a:solidFill>
              <a:srgbClr val="9ECFC4"/>
            </a:solidFill>
          </a:ln>
        </p:spPr>
        <p:txBody>
          <a:bodyPr wrap="square" lIns="1270" tIns="1270" rIns="1270" bIns="1270" rtlCol="0" anchor="t">
            <a:normAutofit/>
          </a:bodyPr>
          <a:lstStyle/>
          <a:p>
            <a:pPr marL="0" indent="0" algn="l">
              <a:buNone/>
            </a:pPr>
            <a:r>
              <a:rPr lang="en-US" sz="1300" dirty="0">
                <a:solidFill>
                  <a:srgbClr val="1A3A4A"/>
                </a:solidFill>
              </a:rPr>
              <a:t>UAT</a:t>
            </a:r>
            <a:endParaRPr lang="en-US" sz="1300" dirty="0"/>
          </a:p>
          <a:p>
            <a:pPr marL="0" indent="0" algn="l">
              <a:buNone/>
            </a:pPr>
            <a:r>
              <a:rPr lang="en-US" sz="1300" dirty="0">
                <a:solidFill>
                  <a:srgbClr val="1A3A4A"/>
                </a:solidFill>
              </a:rPr>
              <a:t>Synthetic school data</a:t>
            </a:r>
            <a:endParaRPr lang="en-US" sz="1300" dirty="0"/>
          </a:p>
          <a:p>
            <a:pPr marL="0" indent="0" algn="l">
              <a:buNone/>
            </a:pPr>
            <a:r>
              <a:rPr lang="en-US" sz="1300" dirty="0">
                <a:solidFill>
                  <a:srgbClr val="1A3A4A"/>
                </a:solidFill>
              </a:rPr>
              <a:t>School/user acceptance testing</a:t>
            </a:r>
            <a:endParaRPr lang="en-US" sz="1300" dirty="0"/>
          </a:p>
          <a:p>
            <a:pPr marL="0" indent="0" algn="l">
              <a:buNone/>
            </a:pPr>
            <a:r>
              <a:rPr lang="en-US" sz="1300" dirty="0">
                <a:solidFill>
                  <a:srgbClr val="1A3A4A"/>
                </a:solidFill>
              </a:rPr>
              <a:t>Security fixes verified here</a:t>
            </a:r>
            <a:endParaRPr lang="en-US" sz="1300" dirty="0"/>
          </a:p>
        </p:txBody>
      </p:sp>
      <p:sp>
        <p:nvSpPr>
          <p:cNvPr id="11" name="Text 9"/>
          <p:cNvSpPr/>
          <p:nvPr/>
        </p:nvSpPr>
        <p:spPr>
          <a:xfrm>
            <a:off x="8275320" y="1417320"/>
            <a:ext cx="3017520" cy="2240280"/>
          </a:xfrm>
          <a:prstGeom prst="roundRect">
            <a:avLst>
              <a:gd name="adj" fmla="val 3265"/>
            </a:avLst>
          </a:prstGeom>
          <a:solidFill>
            <a:srgbClr val="1A3A4A"/>
          </a:solidFill>
          <a:ln w="12700">
            <a:solidFill>
              <a:srgbClr val="9ECFC4"/>
            </a:solidFill>
          </a:ln>
        </p:spPr>
        <p:txBody>
          <a:bodyPr wrap="square" lIns="1270" tIns="1270" rIns="1270" bIns="1270" rtlCol="0" anchor="t">
            <a:normAutofit/>
          </a:bodyPr>
          <a:lstStyle/>
          <a:p>
            <a:pPr marL="0" indent="0" algn="l">
              <a:buNone/>
            </a:pPr>
            <a:r>
              <a:rPr lang="en-US" sz="1300" dirty="0">
                <a:solidFill>
                  <a:srgbClr val="FFFFFF"/>
                </a:solidFill>
              </a:rPr>
              <a:t>PROD</a:t>
            </a:r>
            <a:endParaRPr lang="en-US" sz="1300" dirty="0"/>
          </a:p>
          <a:p>
            <a:pPr marL="0" indent="0" algn="l">
              <a:buNone/>
            </a:pPr>
            <a:r>
              <a:rPr lang="en-US" sz="1300" dirty="0">
                <a:solidFill>
                  <a:srgbClr val="FFFFFF"/>
                </a:solidFill>
              </a:rPr>
              <a:t>Real data only after gates pass</a:t>
            </a:r>
            <a:endParaRPr lang="en-US" sz="1300" dirty="0"/>
          </a:p>
          <a:p>
            <a:pPr marL="0" indent="0" algn="l">
              <a:buNone/>
            </a:pPr>
            <a:r>
              <a:rPr lang="en-US" sz="1300" dirty="0">
                <a:solidFill>
                  <a:srgbClr val="FFFFFF"/>
                </a:solidFill>
              </a:rPr>
              <a:t>2FA, HTTPS, backups, monitoring</a:t>
            </a:r>
            <a:endParaRPr lang="en-US" sz="1300" dirty="0"/>
          </a:p>
          <a:p>
            <a:pPr marL="0" indent="0" algn="l">
              <a:buNone/>
            </a:pPr>
            <a:r>
              <a:rPr lang="en-US" sz="1300" dirty="0">
                <a:solidFill>
                  <a:srgbClr val="FFFFFF"/>
                </a:solidFill>
              </a:rPr>
              <a:t>Strict change control</a:t>
            </a:r>
            <a:endParaRPr lang="en-US" sz="1300" dirty="0"/>
          </a:p>
        </p:txBody>
      </p:sp>
      <p:sp>
        <p:nvSpPr>
          <p:cNvPr id="12" name="Shape 10"/>
          <p:cNvSpPr/>
          <p:nvPr/>
        </p:nvSpPr>
        <p:spPr>
          <a:xfrm>
            <a:off x="3913632" y="2514600"/>
            <a:ext cx="475488" cy="0"/>
          </a:xfrm>
          <a:prstGeom prst="line">
            <a:avLst/>
          </a:prstGeom>
          <a:noFill/>
          <a:ln w="16510">
            <a:solidFill>
              <a:srgbClr val="627984"/>
            </a:solidFill>
            <a:prstDash val="solid"/>
            <a:tailEnd type="triangle"/>
          </a:ln>
        </p:spPr>
        <p:txBody>
          <a:bodyPr/>
          <a:lstStyle/>
          <a:p>
            <a:endParaRPr lang="en-GB"/>
          </a:p>
        </p:txBody>
      </p:sp>
      <p:sp>
        <p:nvSpPr>
          <p:cNvPr id="13" name="Shape 11"/>
          <p:cNvSpPr/>
          <p:nvPr/>
        </p:nvSpPr>
        <p:spPr>
          <a:xfrm>
            <a:off x="7616952" y="2514600"/>
            <a:ext cx="475488" cy="0"/>
          </a:xfrm>
          <a:prstGeom prst="line">
            <a:avLst/>
          </a:prstGeom>
          <a:noFill/>
          <a:ln w="16510">
            <a:solidFill>
              <a:srgbClr val="627984"/>
            </a:solidFill>
            <a:prstDash val="solid"/>
            <a:tailEnd type="triangle"/>
          </a:ln>
        </p:spPr>
        <p:txBody>
          <a:bodyPr/>
          <a:lstStyle/>
          <a:p>
            <a:endParaRPr lang="en-GB"/>
          </a:p>
        </p:txBody>
      </p:sp>
      <p:sp>
        <p:nvSpPr>
          <p:cNvPr id="14" name="Text 12"/>
          <p:cNvSpPr/>
          <p:nvPr/>
        </p:nvSpPr>
        <p:spPr>
          <a:xfrm>
            <a:off x="868680" y="4572000"/>
            <a:ext cx="10469880" cy="7132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No real child/SEND data should enter DEV. Production must only be reached after privacy, security, support and recovery gates have been met.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03</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03. Data Model and Foundation Data</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The schema beneath the product experience and workflow engine</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DATA MODEL</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Logical data model - overview</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model separates foundation data, transactional timeline, support/EHCP records, governance and AI provenance</a:t>
            </a:r>
            <a:endParaRPr lang="en-US" sz="1100" dirty="0"/>
          </a:p>
        </p:txBody>
      </p:sp>
      <p:pic>
        <p:nvPicPr>
          <p:cNvPr id="9" name="Image 0" descr="/mnt/data/See_My_Mind_Data_Model_Overview.png"/>
          <p:cNvPicPr>
            <a:picLocks noChangeAspect="1"/>
          </p:cNvPicPr>
          <p:nvPr/>
        </p:nvPicPr>
        <p:blipFill>
          <a:blip r:embed="rId3"/>
          <a:stretch>
            <a:fillRect/>
          </a:stretch>
        </p:blipFill>
        <p:spPr>
          <a:xfrm>
            <a:off x="2631065" y="1325880"/>
            <a:ext cx="6945109" cy="4480560"/>
          </a:xfrm>
          <a:prstGeom prst="rect">
            <a:avLst/>
          </a:prstGeom>
        </p:spPr>
      </p:pic>
      <p:sp>
        <p:nvSpPr>
          <p:cNvPr id="10" name="Text 7"/>
          <p:cNvSpPr/>
          <p:nvPr/>
        </p:nvSpPr>
        <p:spPr>
          <a:xfrm>
            <a:off x="685800" y="6016752"/>
            <a:ext cx="10835640" cy="329184"/>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The detailed data model exists as a companion schema workbook with entity definitions, fields, PK/FK references, cardinality, classifications and build phases.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DATA MODEL</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Core / MVP data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Master data and transactional records needed for the first real product slice</a:t>
            </a:r>
            <a:endParaRPr lang="en-US" sz="1100" dirty="0"/>
          </a:p>
        </p:txBody>
      </p:sp>
      <p:pic>
        <p:nvPicPr>
          <p:cNvPr id="9" name="Image 0" descr="/mnt/data/See_My_Mind_Core_MVP_ERD.png"/>
          <p:cNvPicPr>
            <a:picLocks noChangeAspect="1"/>
          </p:cNvPicPr>
          <p:nvPr/>
        </p:nvPicPr>
        <p:blipFill>
          <a:blip r:embed="rId3"/>
          <a:stretch>
            <a:fillRect/>
          </a:stretch>
        </p:blipFill>
        <p:spPr>
          <a:xfrm>
            <a:off x="626656" y="1234440"/>
            <a:ext cx="2851602" cy="47091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DATA MODEL</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Foundation data domains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Stable objects that transactions and workflows depend on</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Organisation</a:t>
            </a:r>
            <a:endParaRPr lang="en-US" sz="1050" dirty="0"/>
          </a:p>
          <a:p>
            <a:pPr marL="0" indent="0">
              <a:buNone/>
            </a:pPr>
            <a:r>
              <a:rPr lang="en-US" sz="1050" dirty="0">
                <a:solidFill>
                  <a:srgbClr val="3D4F5A"/>
                </a:solidFill>
              </a:rPr>
              <a:t>School, site/tenant, school contact details, school settings.</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Pupil</a:t>
            </a:r>
            <a:endParaRPr lang="en-US" sz="1050" dirty="0"/>
          </a:p>
          <a:p>
            <a:pPr marL="0" indent="0">
              <a:buNone/>
            </a:pPr>
            <a:r>
              <a:rPr lang="en-US" sz="1050" dirty="0">
                <a:solidFill>
                  <a:srgbClr val="3D4F5A"/>
                </a:solidFill>
              </a:rPr>
              <a:t>Child, current school, school enrolment history, year group, sex, date of birth.</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Family</a:t>
            </a:r>
            <a:endParaRPr lang="en-US" sz="1050" dirty="0"/>
          </a:p>
          <a:p>
            <a:pPr marL="0" indent="0">
              <a:buNone/>
            </a:pPr>
            <a:r>
              <a:rPr lang="en-US" sz="1050" dirty="0">
                <a:solidFill>
                  <a:srgbClr val="3D4F5A"/>
                </a:solidFill>
              </a:rPr>
              <a:t>Guardian and Child Guardian Link: relationship, responsibility, primary contact, comms rights.</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Staff</a:t>
            </a:r>
            <a:endParaRPr lang="en-US" sz="1050" dirty="0"/>
          </a:p>
          <a:p>
            <a:pPr marL="0" indent="0">
              <a:buNone/>
            </a:pPr>
            <a:r>
              <a:rPr lang="en-US" sz="1050" dirty="0">
                <a:solidFill>
                  <a:srgbClr val="3D4F5A"/>
                </a:solidFill>
              </a:rPr>
              <a:t>Staff Member, Staff School Assignment, Child Staff Assignment.</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Support reference</a:t>
            </a:r>
            <a:endParaRPr lang="en-US" sz="1050" dirty="0"/>
          </a:p>
          <a:p>
            <a:pPr marL="0" indent="0">
              <a:buNone/>
            </a:pPr>
            <a:r>
              <a:rPr lang="en-US" sz="1050" dirty="0">
                <a:solidFill>
                  <a:srgbClr val="3D4F5A"/>
                </a:solidFill>
              </a:rPr>
              <a:t>Support needs, strategy catalogue, intervention types, context values, severity/significance values.</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Governance reference</a:t>
            </a:r>
            <a:endParaRPr lang="en-US" sz="1050" dirty="0"/>
          </a:p>
          <a:p>
            <a:pPr marL="0" indent="0">
              <a:buNone/>
            </a:pPr>
            <a:r>
              <a:rPr lang="en-US" sz="1050" dirty="0">
                <a:solidFill>
                  <a:srgbClr val="3D4F5A"/>
                </a:solidFill>
              </a:rPr>
              <a:t>Roles, visibility rules, consent purposes, retention rules, export formats.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DATA MODEL</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Foundation data governance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Poor reference data will undermine security, workflow and reporting</a:t>
            </a:r>
            <a:endParaRPr lang="en-US" sz="1100" dirty="0"/>
          </a:p>
        </p:txBody>
      </p:sp>
      <p:sp>
        <p:nvSpPr>
          <p:cNvPr id="9" name="Text 7"/>
          <p:cNvSpPr/>
          <p:nvPr/>
        </p:nvSpPr>
        <p:spPr>
          <a:xfrm>
            <a:off x="685800" y="1143000"/>
            <a:ext cx="5486400" cy="3886200"/>
          </a:xfrm>
          <a:prstGeom prst="rect">
            <a:avLst/>
          </a:prstGeom>
          <a:noFill/>
          <a:ln/>
        </p:spPr>
        <p:txBody>
          <a:bodyPr wrap="square" lIns="508" tIns="508" rIns="508" bIns="508" rtlCol="0" anchor="ctr">
            <a:normAutofit/>
          </a:bodyPr>
          <a:lstStyle/>
          <a:p>
            <a:r>
              <a:rPr lang="en-US" sz="1300" dirty="0">
                <a:solidFill>
                  <a:srgbClr val="1A3A4A"/>
                </a:solidFill>
              </a:rPr>
              <a:t>Every child must have a current school context and a retained enrolment history.</a:t>
            </a:r>
            <a:endParaRPr lang="en-US" sz="1300" dirty="0"/>
          </a:p>
          <a:p>
            <a:r>
              <a:rPr lang="en-US" sz="1300" dirty="0">
                <a:solidFill>
                  <a:srgbClr val="1A3A4A"/>
                </a:solidFill>
              </a:rPr>
              <a:t>Guardian access must be relationship-based, not simply person-based.</a:t>
            </a:r>
            <a:endParaRPr lang="en-US" sz="1300" dirty="0"/>
          </a:p>
          <a:p>
            <a:r>
              <a:rPr lang="en-US" sz="1300" dirty="0">
                <a:solidFill>
                  <a:srgbClr val="1A3A4A"/>
                </a:solidFill>
              </a:rPr>
              <a:t>Staff access must flow through Staff School Assignment and Child Staff Assignment.</a:t>
            </a:r>
            <a:endParaRPr lang="en-US" sz="1300" dirty="0"/>
          </a:p>
          <a:p>
            <a:r>
              <a:rPr lang="en-US" sz="1300" dirty="0">
                <a:solidFill>
                  <a:srgbClr val="1A3A4A"/>
                </a:solidFill>
              </a:rPr>
              <a:t>All sensitive dropdowns need controlled values, not free-text drift.</a:t>
            </a:r>
            <a:endParaRPr lang="en-US" sz="1300" dirty="0"/>
          </a:p>
          <a:p>
            <a:r>
              <a:rPr lang="en-US" sz="1300" dirty="0">
                <a:solidFill>
                  <a:srgbClr val="1A3A4A"/>
                </a:solidFill>
              </a:rPr>
              <a:t>Data ownership must be explicit: school-owned, parent-supplied, child self-reported, system generated or AI generated.</a:t>
            </a:r>
            <a:endParaRPr lang="en-US" sz="1300" dirty="0"/>
          </a:p>
          <a:p>
            <a:r>
              <a:rPr lang="en-US" sz="1300" dirty="0">
                <a:solidFill>
                  <a:srgbClr val="1A3A4A"/>
                </a:solidFill>
              </a:rPr>
              <a:t>Bulk import templates should validate identifiers, duplicates, mandatory fields and tenant boundaries before load.</a:t>
            </a:r>
            <a:endParaRPr lang="en-US" sz="1300" dirty="0"/>
          </a:p>
        </p:txBody>
      </p:sp>
      <p:sp>
        <p:nvSpPr>
          <p:cNvPr id="10" name="Text 8"/>
          <p:cNvSpPr/>
          <p:nvPr/>
        </p:nvSpPr>
        <p:spPr>
          <a:xfrm>
            <a:off x="6629400" y="1298448"/>
            <a:ext cx="4617720" cy="111556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Governance rule: foundation data changes should be auditable and controlled. Changing a school, guardian, staff assignment or communication entitlement can change who sees a child.</a:t>
            </a:r>
            <a:endParaRPr lang="en-US" sz="1050" dirty="0"/>
          </a:p>
        </p:txBody>
      </p:sp>
      <p:sp>
        <p:nvSpPr>
          <p:cNvPr id="11" name="Text 9"/>
          <p:cNvSpPr/>
          <p:nvPr/>
        </p:nvSpPr>
        <p:spPr>
          <a:xfrm>
            <a:off x="6629400" y="2852928"/>
            <a:ext cx="4617720" cy="111556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Recommended gate: no school pilot until seed data import, duplicate detection, permission checks and export format validation have been tested end-to-end.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WORKFLOW AND DATA</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Transactional spine - Child Event</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One timeline holds the child story; specialist records hold the detail</a:t>
            </a:r>
            <a:endParaRPr lang="en-US" sz="1100" dirty="0"/>
          </a:p>
        </p:txBody>
      </p:sp>
      <p:sp>
        <p:nvSpPr>
          <p:cNvPr id="9" name="Shape 7"/>
          <p:cNvSpPr/>
          <p:nvPr/>
        </p:nvSpPr>
        <p:spPr>
          <a:xfrm>
            <a:off x="3154680" y="2377440"/>
            <a:ext cx="1828800" cy="0"/>
          </a:xfrm>
          <a:prstGeom prst="line">
            <a:avLst/>
          </a:prstGeom>
          <a:noFill/>
          <a:ln w="15240">
            <a:solidFill>
              <a:srgbClr val="627984"/>
            </a:solidFill>
            <a:prstDash val="solid"/>
            <a:tailEnd type="triangle"/>
          </a:ln>
        </p:spPr>
        <p:txBody>
          <a:bodyPr/>
          <a:lstStyle/>
          <a:p>
            <a:endParaRPr lang="en-GB"/>
          </a:p>
        </p:txBody>
      </p:sp>
      <p:sp>
        <p:nvSpPr>
          <p:cNvPr id="10" name="Shape 8"/>
          <p:cNvSpPr/>
          <p:nvPr/>
        </p:nvSpPr>
        <p:spPr>
          <a:xfrm>
            <a:off x="6720840" y="2377440"/>
            <a:ext cx="1828800" cy="0"/>
          </a:xfrm>
          <a:prstGeom prst="line">
            <a:avLst/>
          </a:prstGeom>
          <a:noFill/>
          <a:ln w="15240">
            <a:solidFill>
              <a:srgbClr val="627984"/>
            </a:solidFill>
            <a:prstDash val="solid"/>
            <a:tailEnd type="triangle"/>
          </a:ln>
        </p:spPr>
        <p:txBody>
          <a:bodyPr/>
          <a:lstStyle/>
          <a:p>
            <a:endParaRPr lang="en-GB"/>
          </a:p>
        </p:txBody>
      </p:sp>
      <p:sp>
        <p:nvSpPr>
          <p:cNvPr id="11" name="Text 9"/>
          <p:cNvSpPr/>
          <p:nvPr/>
        </p:nvSpPr>
        <p:spPr>
          <a:xfrm>
            <a:off x="731520" y="1847088"/>
            <a:ext cx="2423160" cy="1097280"/>
          </a:xfrm>
          <a:prstGeom prst="roundRect">
            <a:avLst>
              <a:gd name="adj" fmla="val 6667"/>
            </a:avLst>
          </a:prstGeom>
          <a:solidFill>
            <a:srgbClr val="E8F4F1"/>
          </a:solidFill>
          <a:ln w="12700">
            <a:solidFill>
              <a:srgbClr val="9ECFC4"/>
            </a:solidFill>
          </a:ln>
        </p:spPr>
        <p:txBody>
          <a:bodyPr wrap="square" lIns="1270" tIns="1270" rIns="1270" bIns="1270" rtlCol="0" anchor="ctr">
            <a:normAutofit/>
          </a:bodyPr>
          <a:lstStyle/>
          <a:p>
            <a:pPr marL="0" indent="0" algn="ctr">
              <a:buNone/>
            </a:pPr>
            <a:r>
              <a:rPr lang="en-US" sz="1200" dirty="0">
                <a:solidFill>
                  <a:srgbClr val="1A3A4A"/>
                </a:solidFill>
              </a:rPr>
              <a:t>Reporter</a:t>
            </a:r>
            <a:endParaRPr lang="en-US" sz="1200" dirty="0"/>
          </a:p>
          <a:p>
            <a:pPr marL="0" indent="0" algn="ctr">
              <a:buNone/>
            </a:pPr>
            <a:r>
              <a:rPr lang="en-US" sz="1200" dirty="0">
                <a:solidFill>
                  <a:srgbClr val="1A3A4A"/>
                </a:solidFill>
              </a:rPr>
              <a:t>Parent, child, staff or system</a:t>
            </a:r>
            <a:endParaRPr lang="en-US" sz="1200" dirty="0"/>
          </a:p>
        </p:txBody>
      </p:sp>
      <p:sp>
        <p:nvSpPr>
          <p:cNvPr id="12" name="Text 10"/>
          <p:cNvSpPr/>
          <p:nvPr/>
        </p:nvSpPr>
        <p:spPr>
          <a:xfrm>
            <a:off x="4572000" y="1609344"/>
            <a:ext cx="2651760" cy="1572768"/>
          </a:xfrm>
          <a:prstGeom prst="roundRect">
            <a:avLst>
              <a:gd name="adj" fmla="val 4651"/>
            </a:avLst>
          </a:prstGeom>
          <a:solidFill>
            <a:srgbClr val="1A3A4A"/>
          </a:solidFill>
          <a:ln w="12700">
            <a:solidFill>
              <a:srgbClr val="1A3A4A"/>
            </a:solidFill>
          </a:ln>
        </p:spPr>
        <p:txBody>
          <a:bodyPr wrap="square" lIns="1270" tIns="1270" rIns="1270" bIns="1270" rtlCol="0" anchor="ctr">
            <a:normAutofit/>
          </a:bodyPr>
          <a:lstStyle/>
          <a:p>
            <a:pPr marL="0" indent="0" algn="ctr">
              <a:buNone/>
            </a:pPr>
            <a:r>
              <a:rPr lang="en-US" sz="1200" dirty="0">
                <a:solidFill>
                  <a:srgbClr val="FFFFFF"/>
                </a:solidFill>
              </a:rPr>
              <a:t>Child Event</a:t>
            </a:r>
            <a:endParaRPr lang="en-US" sz="1200" dirty="0"/>
          </a:p>
          <a:p>
            <a:pPr marL="0" indent="0" algn="ctr">
              <a:buNone/>
            </a:pPr>
            <a:r>
              <a:rPr lang="en-US" sz="1200" dirty="0">
                <a:solidFill>
                  <a:srgbClr val="FFFFFF"/>
                </a:solidFill>
              </a:rPr>
              <a:t>Child, time, context, summary, evidence basis, significance, visibility, status</a:t>
            </a:r>
            <a:endParaRPr lang="en-US" sz="1200" dirty="0"/>
          </a:p>
        </p:txBody>
      </p:sp>
      <p:sp>
        <p:nvSpPr>
          <p:cNvPr id="13" name="Text 11"/>
          <p:cNvSpPr/>
          <p:nvPr/>
        </p:nvSpPr>
        <p:spPr>
          <a:xfrm>
            <a:off x="8458200" y="1847088"/>
            <a:ext cx="2606040" cy="1097280"/>
          </a:xfrm>
          <a:prstGeom prst="roundRect">
            <a:avLst>
              <a:gd name="adj" fmla="val 6667"/>
            </a:avLst>
          </a:prstGeom>
          <a:solidFill>
            <a:srgbClr val="FDF3DC"/>
          </a:solidFill>
          <a:ln w="12700">
            <a:solidFill>
              <a:srgbClr val="E8B84B"/>
            </a:solidFill>
          </a:ln>
        </p:spPr>
        <p:txBody>
          <a:bodyPr wrap="square" lIns="1270" tIns="1270" rIns="1270" bIns="1270" rtlCol="0" anchor="ctr">
            <a:normAutofit/>
          </a:bodyPr>
          <a:lstStyle/>
          <a:p>
            <a:pPr marL="0" indent="0" algn="ctr">
              <a:buNone/>
            </a:pPr>
            <a:r>
              <a:rPr lang="en-US" sz="1200" dirty="0">
                <a:solidFill>
                  <a:srgbClr val="1A3A4A"/>
                </a:solidFill>
              </a:rPr>
              <a:t>Detail Record</a:t>
            </a:r>
            <a:endParaRPr lang="en-US" sz="1200" dirty="0"/>
          </a:p>
          <a:p>
            <a:pPr marL="0" indent="0" algn="ctr">
              <a:buNone/>
            </a:pPr>
            <a:r>
              <a:rPr lang="en-US" sz="1200" dirty="0">
                <a:solidFill>
                  <a:srgbClr val="1A3A4A"/>
                </a:solidFill>
              </a:rPr>
              <a:t>Observation, handover, incident, strategy use, follow-up or communication</a:t>
            </a:r>
            <a:endParaRPr lang="en-US" sz="1200" dirty="0"/>
          </a:p>
        </p:txBody>
      </p:sp>
      <p:sp>
        <p:nvSpPr>
          <p:cNvPr id="14" name="Text 12"/>
          <p:cNvSpPr/>
          <p:nvPr/>
        </p:nvSpPr>
        <p:spPr>
          <a:xfrm>
            <a:off x="960120" y="4069080"/>
            <a:ext cx="10287000" cy="77724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Why this matters: one coherent timeline can power the parent summary, teacher view, SENCO evidence pack and future analytics without flattening all transaction types into one oversized table.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WORKFLOW AND DATA</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Transactional object catalogue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Main transactional objects and how they relate to the timeline</a:t>
            </a:r>
            <a:endParaRPr lang="en-US" sz="1100" dirty="0"/>
          </a:p>
        </p:txBody>
      </p:sp>
      <p:sp>
        <p:nvSpPr>
          <p:cNvPr id="9" name="Text 7"/>
          <p:cNvSpPr/>
          <p:nvPr/>
        </p:nvSpPr>
        <p:spPr>
          <a:xfrm>
            <a:off x="685800" y="1207008"/>
            <a:ext cx="274320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Child Event</a:t>
            </a:r>
            <a:endParaRPr lang="en-US" sz="1020" dirty="0"/>
          </a:p>
        </p:txBody>
      </p:sp>
      <p:sp>
        <p:nvSpPr>
          <p:cNvPr id="10" name="Text 8"/>
          <p:cNvSpPr/>
          <p:nvPr/>
        </p:nvSpPr>
        <p:spPr>
          <a:xfrm>
            <a:off x="3611880" y="125272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Canonical timeline wrapper; one row per reportable event.</a:t>
            </a:r>
            <a:endParaRPr lang="en-US" sz="1060" dirty="0"/>
          </a:p>
        </p:txBody>
      </p:sp>
      <p:sp>
        <p:nvSpPr>
          <p:cNvPr id="11" name="Text 9"/>
          <p:cNvSpPr/>
          <p:nvPr/>
        </p:nvSpPr>
        <p:spPr>
          <a:xfrm>
            <a:off x="685800" y="1755648"/>
            <a:ext cx="274320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Observation</a:t>
            </a:r>
            <a:endParaRPr lang="en-US" sz="1020" dirty="0"/>
          </a:p>
        </p:txBody>
      </p:sp>
      <p:sp>
        <p:nvSpPr>
          <p:cNvPr id="12" name="Text 10"/>
          <p:cNvSpPr/>
          <p:nvPr/>
        </p:nvSpPr>
        <p:spPr>
          <a:xfrm>
            <a:off x="3611880" y="180136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Wellbeing, learning, communication, sensory, strategy and outcome detail.</a:t>
            </a:r>
            <a:endParaRPr lang="en-US" sz="1060" dirty="0"/>
          </a:p>
        </p:txBody>
      </p:sp>
      <p:sp>
        <p:nvSpPr>
          <p:cNvPr id="13" name="Text 11"/>
          <p:cNvSpPr/>
          <p:nvPr/>
        </p:nvSpPr>
        <p:spPr>
          <a:xfrm>
            <a:off x="685800" y="2304288"/>
            <a:ext cx="274320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Morning / End-of-Day Handover</a:t>
            </a:r>
            <a:endParaRPr lang="en-US" sz="1020" dirty="0"/>
          </a:p>
        </p:txBody>
      </p:sp>
      <p:sp>
        <p:nvSpPr>
          <p:cNvPr id="14" name="Text 12"/>
          <p:cNvSpPr/>
          <p:nvPr/>
        </p:nvSpPr>
        <p:spPr>
          <a:xfrm>
            <a:off x="3611880" y="235000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Parent-school daily context, sleep, food, medication, mood and summary.</a:t>
            </a:r>
            <a:endParaRPr lang="en-US" sz="1060" dirty="0"/>
          </a:p>
        </p:txBody>
      </p:sp>
      <p:sp>
        <p:nvSpPr>
          <p:cNvPr id="15" name="Text 13"/>
          <p:cNvSpPr/>
          <p:nvPr/>
        </p:nvSpPr>
        <p:spPr>
          <a:xfrm>
            <a:off x="685800" y="2852928"/>
            <a:ext cx="274320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Child Check-In</a:t>
            </a:r>
            <a:endParaRPr lang="en-US" sz="1020" dirty="0"/>
          </a:p>
        </p:txBody>
      </p:sp>
      <p:sp>
        <p:nvSpPr>
          <p:cNvPr id="16" name="Text 14"/>
          <p:cNvSpPr/>
          <p:nvPr/>
        </p:nvSpPr>
        <p:spPr>
          <a:xfrm>
            <a:off x="3611880" y="289864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Child self-report, mood, support request and immediate need.</a:t>
            </a:r>
            <a:endParaRPr lang="en-US" sz="1060" dirty="0"/>
          </a:p>
        </p:txBody>
      </p:sp>
      <p:sp>
        <p:nvSpPr>
          <p:cNvPr id="17" name="Text 15"/>
          <p:cNvSpPr/>
          <p:nvPr/>
        </p:nvSpPr>
        <p:spPr>
          <a:xfrm>
            <a:off x="685800" y="3401568"/>
            <a:ext cx="274320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Behavioural Incident</a:t>
            </a:r>
            <a:endParaRPr lang="en-US" sz="1020" dirty="0"/>
          </a:p>
        </p:txBody>
      </p:sp>
      <p:sp>
        <p:nvSpPr>
          <p:cNvPr id="18" name="Text 16"/>
          <p:cNvSpPr/>
          <p:nvPr/>
        </p:nvSpPr>
        <p:spPr>
          <a:xfrm>
            <a:off x="3611880" y="344728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Antecedent, behaviour, response, severity, safeguarding and resolution.</a:t>
            </a:r>
            <a:endParaRPr lang="en-US" sz="1060" dirty="0"/>
          </a:p>
        </p:txBody>
      </p:sp>
      <p:sp>
        <p:nvSpPr>
          <p:cNvPr id="19" name="Text 17"/>
          <p:cNvSpPr/>
          <p:nvPr/>
        </p:nvSpPr>
        <p:spPr>
          <a:xfrm>
            <a:off x="685800" y="3950208"/>
            <a:ext cx="274320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Strategy Use / Outcome</a:t>
            </a:r>
            <a:endParaRPr lang="en-US" sz="1020" dirty="0"/>
          </a:p>
        </p:txBody>
      </p:sp>
      <p:sp>
        <p:nvSpPr>
          <p:cNvPr id="20" name="Text 18"/>
          <p:cNvSpPr/>
          <p:nvPr/>
        </p:nvSpPr>
        <p:spPr>
          <a:xfrm>
            <a:off x="3611880" y="399592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Which strategy was used and whether it worked.</a:t>
            </a:r>
            <a:endParaRPr lang="en-US" sz="1060" dirty="0"/>
          </a:p>
        </p:txBody>
      </p:sp>
      <p:sp>
        <p:nvSpPr>
          <p:cNvPr id="21" name="Text 19"/>
          <p:cNvSpPr/>
          <p:nvPr/>
        </p:nvSpPr>
        <p:spPr>
          <a:xfrm>
            <a:off x="685800" y="4498848"/>
            <a:ext cx="2743200" cy="384048"/>
          </a:xfrm>
          <a:prstGeom prst="roundRect">
            <a:avLst>
              <a:gd name="adj" fmla="val 19048"/>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Follow-Up Action</a:t>
            </a:r>
            <a:endParaRPr lang="en-US" sz="1020" dirty="0"/>
          </a:p>
        </p:txBody>
      </p:sp>
      <p:sp>
        <p:nvSpPr>
          <p:cNvPr id="22" name="Text 20"/>
          <p:cNvSpPr/>
          <p:nvPr/>
        </p:nvSpPr>
        <p:spPr>
          <a:xfrm>
            <a:off x="3611880" y="454456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Assigned action, owner, due date, status and closure evidence.</a:t>
            </a:r>
            <a:endParaRPr lang="en-US" sz="1060" dirty="0"/>
          </a:p>
        </p:txBody>
      </p:sp>
      <p:sp>
        <p:nvSpPr>
          <p:cNvPr id="23" name="Text 21"/>
          <p:cNvSpPr/>
          <p:nvPr/>
        </p:nvSpPr>
        <p:spPr>
          <a:xfrm>
            <a:off x="685800" y="5047488"/>
            <a:ext cx="2743200" cy="384048"/>
          </a:xfrm>
          <a:prstGeom prst="roundRect">
            <a:avLst>
              <a:gd name="adj" fmla="val 19048"/>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Communication</a:t>
            </a:r>
            <a:endParaRPr lang="en-US" sz="1020" dirty="0"/>
          </a:p>
        </p:txBody>
      </p:sp>
      <p:sp>
        <p:nvSpPr>
          <p:cNvPr id="24" name="Text 22"/>
          <p:cNvSpPr/>
          <p:nvPr/>
        </p:nvSpPr>
        <p:spPr>
          <a:xfrm>
            <a:off x="3611880" y="5093208"/>
            <a:ext cx="7818120" cy="274320"/>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Messages that form part of the child record.</a:t>
            </a:r>
            <a:endParaRPr lang="en-US" sz="10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04</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04. Workflow, Reporting and AI</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Moving from records to action, insight and evidence</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WORKFLOW</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Workflow layer</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Workflow sits above the data model and turns events into action</a:t>
            </a:r>
            <a:endParaRPr lang="en-US" sz="1100" dirty="0"/>
          </a:p>
        </p:txBody>
      </p:sp>
      <p:sp>
        <p:nvSpPr>
          <p:cNvPr id="9" name="Shape 7"/>
          <p:cNvSpPr/>
          <p:nvPr/>
        </p:nvSpPr>
        <p:spPr>
          <a:xfrm>
            <a:off x="2514600" y="2212848"/>
            <a:ext cx="411480" cy="0"/>
          </a:xfrm>
          <a:prstGeom prst="line">
            <a:avLst/>
          </a:prstGeom>
          <a:noFill/>
          <a:ln w="13970">
            <a:solidFill>
              <a:srgbClr val="627984"/>
            </a:solidFill>
            <a:prstDash val="solid"/>
            <a:tailEnd type="triangle"/>
          </a:ln>
        </p:spPr>
        <p:txBody>
          <a:bodyPr/>
          <a:lstStyle/>
          <a:p>
            <a:endParaRPr lang="en-GB"/>
          </a:p>
        </p:txBody>
      </p:sp>
      <p:sp>
        <p:nvSpPr>
          <p:cNvPr id="10" name="Text 8"/>
          <p:cNvSpPr/>
          <p:nvPr/>
        </p:nvSpPr>
        <p:spPr>
          <a:xfrm>
            <a:off x="685800" y="1572768"/>
            <a:ext cx="1828800" cy="1280160"/>
          </a:xfrm>
          <a:prstGeom prst="roundRect">
            <a:avLst>
              <a:gd name="adj" fmla="val 5714"/>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1. Capture</a:t>
            </a:r>
            <a:endParaRPr lang="en-US" sz="1050" dirty="0"/>
          </a:p>
          <a:p>
            <a:pPr marL="0" indent="0" algn="l">
              <a:buNone/>
            </a:pPr>
            <a:r>
              <a:rPr lang="en-US" sz="1050" dirty="0">
                <a:solidFill>
                  <a:srgbClr val="1A3A4A"/>
                </a:solidFill>
              </a:rPr>
              <a:t>Parent, child, teacher, TA or system creates a record.</a:t>
            </a:r>
            <a:endParaRPr lang="en-US" sz="1050" dirty="0"/>
          </a:p>
        </p:txBody>
      </p:sp>
      <p:sp>
        <p:nvSpPr>
          <p:cNvPr id="11" name="Shape 9"/>
          <p:cNvSpPr/>
          <p:nvPr/>
        </p:nvSpPr>
        <p:spPr>
          <a:xfrm>
            <a:off x="4754880" y="2212848"/>
            <a:ext cx="411480" cy="0"/>
          </a:xfrm>
          <a:prstGeom prst="line">
            <a:avLst/>
          </a:prstGeom>
          <a:noFill/>
          <a:ln w="13970">
            <a:solidFill>
              <a:srgbClr val="627984"/>
            </a:solidFill>
            <a:prstDash val="solid"/>
            <a:tailEnd type="triangle"/>
          </a:ln>
        </p:spPr>
        <p:txBody>
          <a:bodyPr/>
          <a:lstStyle/>
          <a:p>
            <a:endParaRPr lang="en-GB"/>
          </a:p>
        </p:txBody>
      </p:sp>
      <p:sp>
        <p:nvSpPr>
          <p:cNvPr id="12" name="Text 10"/>
          <p:cNvSpPr/>
          <p:nvPr/>
        </p:nvSpPr>
        <p:spPr>
          <a:xfrm>
            <a:off x="2926080" y="1572768"/>
            <a:ext cx="1828800" cy="1280160"/>
          </a:xfrm>
          <a:prstGeom prst="roundRect">
            <a:avLst>
              <a:gd name="adj" fmla="val 5714"/>
            </a:avLst>
          </a:prstGeom>
          <a:solidFill>
            <a:srgbClr val="FFFFFF"/>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2. Classify</a:t>
            </a:r>
            <a:endParaRPr lang="en-US" sz="1050" dirty="0"/>
          </a:p>
          <a:p>
            <a:pPr marL="0" indent="0" algn="l">
              <a:buNone/>
            </a:pPr>
            <a:r>
              <a:rPr lang="en-US" sz="1050" dirty="0">
                <a:solidFill>
                  <a:srgbClr val="1A3A4A"/>
                </a:solidFill>
              </a:rPr>
              <a:t>Event type, evidence basis, significance, visibility and context are set.</a:t>
            </a:r>
            <a:endParaRPr lang="en-US" sz="1050" dirty="0"/>
          </a:p>
        </p:txBody>
      </p:sp>
      <p:sp>
        <p:nvSpPr>
          <p:cNvPr id="13" name="Shape 11"/>
          <p:cNvSpPr/>
          <p:nvPr/>
        </p:nvSpPr>
        <p:spPr>
          <a:xfrm>
            <a:off x="6995160" y="2212848"/>
            <a:ext cx="411480" cy="0"/>
          </a:xfrm>
          <a:prstGeom prst="line">
            <a:avLst/>
          </a:prstGeom>
          <a:noFill/>
          <a:ln w="13970">
            <a:solidFill>
              <a:srgbClr val="627984"/>
            </a:solidFill>
            <a:prstDash val="solid"/>
            <a:tailEnd type="triangle"/>
          </a:ln>
        </p:spPr>
        <p:txBody>
          <a:bodyPr/>
          <a:lstStyle/>
          <a:p>
            <a:endParaRPr lang="en-GB"/>
          </a:p>
        </p:txBody>
      </p:sp>
      <p:sp>
        <p:nvSpPr>
          <p:cNvPr id="14" name="Text 12"/>
          <p:cNvSpPr/>
          <p:nvPr/>
        </p:nvSpPr>
        <p:spPr>
          <a:xfrm>
            <a:off x="5166360" y="1572768"/>
            <a:ext cx="1828800" cy="1280160"/>
          </a:xfrm>
          <a:prstGeom prst="roundRect">
            <a:avLst>
              <a:gd name="adj" fmla="val 5714"/>
            </a:avLst>
          </a:prstGeom>
          <a:solidFill>
            <a:srgbClr val="FDF3DC"/>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3. Evaluate rules</a:t>
            </a:r>
            <a:endParaRPr lang="en-US" sz="1050" dirty="0"/>
          </a:p>
          <a:p>
            <a:pPr marL="0" indent="0" algn="l">
              <a:buNone/>
            </a:pPr>
            <a:r>
              <a:rPr lang="en-US" sz="1050" dirty="0">
                <a:solidFill>
                  <a:srgbClr val="1A3A4A"/>
                </a:solidFill>
              </a:rPr>
              <a:t>Trigger thresholds, missing handovers, repeated concerns, review dates.</a:t>
            </a:r>
            <a:endParaRPr lang="en-US" sz="1050" dirty="0"/>
          </a:p>
        </p:txBody>
      </p:sp>
      <p:sp>
        <p:nvSpPr>
          <p:cNvPr id="15" name="Shape 13"/>
          <p:cNvSpPr/>
          <p:nvPr/>
        </p:nvSpPr>
        <p:spPr>
          <a:xfrm>
            <a:off x="9235440" y="2212848"/>
            <a:ext cx="411480" cy="0"/>
          </a:xfrm>
          <a:prstGeom prst="line">
            <a:avLst/>
          </a:prstGeom>
          <a:noFill/>
          <a:ln w="13970">
            <a:solidFill>
              <a:srgbClr val="627984"/>
            </a:solidFill>
            <a:prstDash val="solid"/>
            <a:tailEnd type="triangle"/>
          </a:ln>
        </p:spPr>
        <p:txBody>
          <a:bodyPr/>
          <a:lstStyle/>
          <a:p>
            <a:endParaRPr lang="en-GB"/>
          </a:p>
        </p:txBody>
      </p:sp>
      <p:sp>
        <p:nvSpPr>
          <p:cNvPr id="16" name="Text 14"/>
          <p:cNvSpPr/>
          <p:nvPr/>
        </p:nvSpPr>
        <p:spPr>
          <a:xfrm>
            <a:off x="7406640" y="1572768"/>
            <a:ext cx="1828800" cy="1280160"/>
          </a:xfrm>
          <a:prstGeom prst="roundRect">
            <a:avLst>
              <a:gd name="adj" fmla="val 5714"/>
            </a:avLst>
          </a:prstGeom>
          <a:solidFill>
            <a:srgbClr val="DDD8F0"/>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4. Notify / assign</a:t>
            </a:r>
            <a:endParaRPr lang="en-US" sz="1050" dirty="0"/>
          </a:p>
          <a:p>
            <a:pPr marL="0" indent="0" algn="l">
              <a:buNone/>
            </a:pPr>
            <a:r>
              <a:rPr lang="en-US" sz="1050" dirty="0">
                <a:solidFill>
                  <a:srgbClr val="1A3A4A"/>
                </a:solidFill>
              </a:rPr>
              <a:t>Create action, notify assigned staff, request SENCO review.</a:t>
            </a:r>
            <a:endParaRPr lang="en-US" sz="1050" dirty="0"/>
          </a:p>
        </p:txBody>
      </p:sp>
      <p:sp>
        <p:nvSpPr>
          <p:cNvPr id="17" name="Text 15"/>
          <p:cNvSpPr/>
          <p:nvPr/>
        </p:nvSpPr>
        <p:spPr>
          <a:xfrm>
            <a:off x="9646920" y="1572768"/>
            <a:ext cx="1828800" cy="1280160"/>
          </a:xfrm>
          <a:prstGeom prst="roundRect">
            <a:avLst>
              <a:gd name="adj" fmla="val 5714"/>
            </a:avLst>
          </a:prstGeom>
          <a:solidFill>
            <a:srgbClr val="1A3A4A"/>
          </a:solidFill>
          <a:ln w="12700">
            <a:solidFill>
              <a:srgbClr val="9ECFC4"/>
            </a:solidFill>
          </a:ln>
        </p:spPr>
        <p:txBody>
          <a:bodyPr wrap="square" lIns="1270" tIns="1270" rIns="1270" bIns="1270" rtlCol="0" anchor="t">
            <a:normAutofit/>
          </a:bodyPr>
          <a:lstStyle/>
          <a:p>
            <a:pPr marL="0" indent="0" algn="l">
              <a:buNone/>
            </a:pPr>
            <a:r>
              <a:rPr lang="en-US" sz="1050" dirty="0">
                <a:solidFill>
                  <a:srgbClr val="FFFFFF"/>
                </a:solidFill>
              </a:rPr>
              <a:t>5. Evidence</a:t>
            </a:r>
            <a:endParaRPr lang="en-US" sz="1050" dirty="0"/>
          </a:p>
          <a:p>
            <a:pPr marL="0" indent="0" algn="l">
              <a:buNone/>
            </a:pPr>
            <a:r>
              <a:rPr lang="en-US" sz="1050" dirty="0">
                <a:solidFill>
                  <a:srgbClr val="FFFFFF"/>
                </a:solidFill>
              </a:rPr>
              <a:t>Attach to timeline, reports and EHCP/evidence packs.</a:t>
            </a:r>
            <a:endParaRPr lang="en-US" sz="1050" dirty="0"/>
          </a:p>
        </p:txBody>
      </p:sp>
      <p:sp>
        <p:nvSpPr>
          <p:cNvPr id="18" name="Text 16"/>
          <p:cNvSpPr/>
          <p:nvPr/>
        </p:nvSpPr>
        <p:spPr>
          <a:xfrm>
            <a:off x="868680" y="4160520"/>
            <a:ext cx="10378440" cy="64008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Workflow rules should be explicitly catalogued, tested and versioned. They are product logic, not ad-hoc notifications.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WORKFLOW</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Initial workflow catalogue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Start with practical workflows that prove value and safety</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Daily handover</a:t>
            </a:r>
            <a:endParaRPr lang="en-US" sz="1050" dirty="0"/>
          </a:p>
          <a:p>
            <a:pPr marL="0" indent="0">
              <a:buNone/>
            </a:pPr>
            <a:r>
              <a:rPr lang="en-US" sz="1050" dirty="0">
                <a:solidFill>
                  <a:srgbClr val="3D4F5A"/>
                </a:solidFill>
              </a:rPr>
              <a:t>Morning handover submitted -&gt; teacher dashboard -&gt; end-of-day summary due.</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Missing check-in</a:t>
            </a:r>
            <a:endParaRPr lang="en-US" sz="1050" dirty="0"/>
          </a:p>
          <a:p>
            <a:pPr marL="0" indent="0">
              <a:buNone/>
            </a:pPr>
            <a:r>
              <a:rPr lang="en-US" sz="1050" dirty="0">
                <a:solidFill>
                  <a:srgbClr val="3D4F5A"/>
                </a:solidFill>
              </a:rPr>
              <a:t>Expected morning handover absent by cut-off -&gt; reminder to parent or school.</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High concern</a:t>
            </a:r>
            <a:endParaRPr lang="en-US" sz="1050" dirty="0"/>
          </a:p>
          <a:p>
            <a:pPr marL="0" indent="0">
              <a:buNone/>
            </a:pPr>
            <a:r>
              <a:rPr lang="en-US" sz="1050" dirty="0">
                <a:solidFill>
                  <a:srgbClr val="3D4F5A"/>
                </a:solidFill>
              </a:rPr>
              <a:t>Concern/Urgent/Critical event -&gt; assigned staff/SENCO notified -&gt; action created.</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Repeated pattern</a:t>
            </a:r>
            <a:endParaRPr lang="en-US" sz="1050" dirty="0"/>
          </a:p>
          <a:p>
            <a:pPr marL="0" indent="0">
              <a:buNone/>
            </a:pPr>
            <a:r>
              <a:rPr lang="en-US" sz="1050" dirty="0">
                <a:solidFill>
                  <a:srgbClr val="3D4F5A"/>
                </a:solidFill>
              </a:rPr>
              <a:t>N concerns in N days -&gt; review-required flag and evidence pack draft.</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Strategy outcome</a:t>
            </a:r>
            <a:endParaRPr lang="en-US" sz="1050" dirty="0"/>
          </a:p>
          <a:p>
            <a:pPr marL="0" indent="0">
              <a:buNone/>
            </a:pPr>
            <a:r>
              <a:rPr lang="en-US" sz="1050" dirty="0">
                <a:solidFill>
                  <a:srgbClr val="3D4F5A"/>
                </a:solidFill>
              </a:rPr>
              <a:t>Strategy used -&gt; effectiveness captured -&gt; support profile updated after review.</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EHCP review</a:t>
            </a:r>
            <a:endParaRPr lang="en-US" sz="1050" dirty="0"/>
          </a:p>
          <a:p>
            <a:pPr marL="0" indent="0">
              <a:buNone/>
            </a:pPr>
            <a:r>
              <a:rPr lang="en-US" sz="1050" dirty="0">
                <a:solidFill>
                  <a:srgbClr val="3D4F5A"/>
                </a:solidFill>
              </a:rPr>
              <a:t>Review date approaching -&gt; evidence collection tasks and report generation.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REPORTING</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Reporting and dashboard engine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Operational reporting must be permission-aware and exportable</a:t>
            </a:r>
            <a:endParaRPr lang="en-US" sz="1100" dirty="0"/>
          </a:p>
        </p:txBody>
      </p:sp>
      <p:sp>
        <p:nvSpPr>
          <p:cNvPr id="9" name="Text 7"/>
          <p:cNvSpPr/>
          <p:nvPr/>
        </p:nvSpPr>
        <p:spPr>
          <a:xfrm>
            <a:off x="685800" y="1234440"/>
            <a:ext cx="3291840" cy="1371600"/>
          </a:xfrm>
          <a:prstGeom prst="roundRect">
            <a:avLst>
              <a:gd name="adj" fmla="val 5333"/>
            </a:avLst>
          </a:prstGeom>
          <a:solidFill>
            <a:srgbClr val="E8F4F1"/>
          </a:solidFill>
          <a:ln w="12700">
            <a:solidFill>
              <a:srgbClr val="9ECFC4"/>
            </a:solidFill>
          </a:ln>
        </p:spPr>
        <p:txBody>
          <a:bodyPr wrap="square" lIns="1270" tIns="1270" rIns="1270" bIns="1270" rtlCol="0" anchor="ctr">
            <a:normAutofit/>
          </a:bodyPr>
          <a:lstStyle/>
          <a:p>
            <a:pPr marL="0" indent="0" algn="ctr">
              <a:buNone/>
            </a:pPr>
            <a:r>
              <a:rPr lang="en-US" sz="1200" dirty="0">
                <a:solidFill>
                  <a:srgbClr val="1A3A4A"/>
                </a:solidFill>
              </a:rPr>
              <a:t>Operational Dashboards</a:t>
            </a:r>
            <a:endParaRPr lang="en-US" sz="1200" dirty="0"/>
          </a:p>
          <a:p>
            <a:pPr marL="0" indent="0" algn="ctr">
              <a:buNone/>
            </a:pPr>
            <a:r>
              <a:rPr lang="en-US" sz="1200" dirty="0">
                <a:solidFill>
                  <a:srgbClr val="1A3A4A"/>
                </a:solidFill>
              </a:rPr>
              <a:t>Today, my pupils, alerts, missing handovers, open actions</a:t>
            </a:r>
            <a:endParaRPr lang="en-US" sz="1200" dirty="0"/>
          </a:p>
        </p:txBody>
      </p:sp>
      <p:sp>
        <p:nvSpPr>
          <p:cNvPr id="10" name="Text 8"/>
          <p:cNvSpPr/>
          <p:nvPr/>
        </p:nvSpPr>
        <p:spPr>
          <a:xfrm>
            <a:off x="4480560" y="1234440"/>
            <a:ext cx="3291840" cy="1371600"/>
          </a:xfrm>
          <a:prstGeom prst="roundRect">
            <a:avLst>
              <a:gd name="adj" fmla="val 5333"/>
            </a:avLst>
          </a:prstGeom>
          <a:solidFill>
            <a:srgbClr val="FFFFFF"/>
          </a:solidFill>
          <a:ln w="12700">
            <a:solidFill>
              <a:srgbClr val="DDE4E8"/>
            </a:solidFill>
          </a:ln>
        </p:spPr>
        <p:txBody>
          <a:bodyPr wrap="square" lIns="1270" tIns="1270" rIns="1270" bIns="1270" rtlCol="0" anchor="ctr">
            <a:normAutofit/>
          </a:bodyPr>
          <a:lstStyle/>
          <a:p>
            <a:pPr marL="0" indent="0" algn="ctr">
              <a:buNone/>
            </a:pPr>
            <a:r>
              <a:rPr lang="en-US" sz="1200" dirty="0">
                <a:solidFill>
                  <a:srgbClr val="1A3A4A"/>
                </a:solidFill>
              </a:rPr>
              <a:t>Evidence Reports</a:t>
            </a:r>
            <a:endParaRPr lang="en-US" sz="1200" dirty="0"/>
          </a:p>
          <a:p>
            <a:pPr marL="0" indent="0" algn="ctr">
              <a:buNone/>
            </a:pPr>
            <a:r>
              <a:rPr lang="en-US" sz="1200" dirty="0">
                <a:solidFill>
                  <a:srgbClr val="1A3A4A"/>
                </a:solidFill>
              </a:rPr>
              <a:t>Child timeline, EHCP pack, strategy effectiveness, incident chronology</a:t>
            </a:r>
            <a:endParaRPr lang="en-US" sz="1200" dirty="0"/>
          </a:p>
        </p:txBody>
      </p:sp>
      <p:sp>
        <p:nvSpPr>
          <p:cNvPr id="11" name="Text 9"/>
          <p:cNvSpPr/>
          <p:nvPr/>
        </p:nvSpPr>
        <p:spPr>
          <a:xfrm>
            <a:off x="8275320" y="1234440"/>
            <a:ext cx="3291840" cy="1371600"/>
          </a:xfrm>
          <a:prstGeom prst="roundRect">
            <a:avLst>
              <a:gd name="adj" fmla="val 5333"/>
            </a:avLst>
          </a:prstGeom>
          <a:solidFill>
            <a:srgbClr val="FDF3DC"/>
          </a:solidFill>
          <a:ln w="12700">
            <a:solidFill>
              <a:srgbClr val="E8B84B"/>
            </a:solidFill>
          </a:ln>
        </p:spPr>
        <p:txBody>
          <a:bodyPr wrap="square" lIns="1270" tIns="1270" rIns="1270" bIns="1270" rtlCol="0" anchor="ctr">
            <a:normAutofit/>
          </a:bodyPr>
          <a:lstStyle/>
          <a:p>
            <a:pPr marL="0" indent="0" algn="ctr">
              <a:buNone/>
            </a:pPr>
            <a:r>
              <a:rPr lang="en-US" sz="1200" dirty="0">
                <a:solidFill>
                  <a:srgbClr val="1A3A4A"/>
                </a:solidFill>
              </a:rPr>
              <a:t>Analytical Views</a:t>
            </a:r>
            <a:endParaRPr lang="en-US" sz="1200" dirty="0"/>
          </a:p>
          <a:p>
            <a:pPr marL="0" indent="0" algn="ctr">
              <a:buNone/>
            </a:pPr>
            <a:r>
              <a:rPr lang="en-US" sz="1200" dirty="0">
                <a:solidFill>
                  <a:srgbClr val="1A3A4A"/>
                </a:solidFill>
              </a:rPr>
              <a:t>Patterns by context, time, strategy, cohort and school</a:t>
            </a:r>
            <a:endParaRPr lang="en-US" sz="1200" dirty="0"/>
          </a:p>
        </p:txBody>
      </p:sp>
      <p:sp>
        <p:nvSpPr>
          <p:cNvPr id="12" name="Text 10"/>
          <p:cNvSpPr/>
          <p:nvPr/>
        </p:nvSpPr>
        <p:spPr>
          <a:xfrm>
            <a:off x="777240" y="3429000"/>
            <a:ext cx="10698480" cy="59436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Reporting should use Frappe report builder/query/script reports for admin and school reporting, then custom dashboards for the product UI.</a:t>
            </a:r>
            <a:endParaRPr lang="en-US" sz="1050" dirty="0"/>
          </a:p>
        </p:txBody>
      </p:sp>
      <p:sp>
        <p:nvSpPr>
          <p:cNvPr id="13" name="Text 11"/>
          <p:cNvSpPr/>
          <p:nvPr/>
        </p:nvSpPr>
        <p:spPr>
          <a:xfrm>
            <a:off x="777240" y="4251960"/>
            <a:ext cx="10698480" cy="65836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Every report must inherit the same access model as the product screens: no report should become a back door around school, child, guardian or restricted visibility rules.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REPORTING</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Dashboard catalogue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Dashboards should be role-specific and not overloaded</a:t>
            </a:r>
            <a:endParaRPr lang="en-US" sz="1100" dirty="0"/>
          </a:p>
        </p:txBody>
      </p:sp>
      <p:sp>
        <p:nvSpPr>
          <p:cNvPr id="9" name="Text 7"/>
          <p:cNvSpPr/>
          <p:nvPr/>
        </p:nvSpPr>
        <p:spPr>
          <a:xfrm>
            <a:off x="777240" y="1097280"/>
            <a:ext cx="228600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Parent</a:t>
            </a:r>
            <a:endParaRPr lang="en-US" sz="1100" dirty="0"/>
          </a:p>
        </p:txBody>
      </p:sp>
      <p:sp>
        <p:nvSpPr>
          <p:cNvPr id="10" name="Text 8"/>
          <p:cNvSpPr/>
          <p:nvPr/>
        </p:nvSpPr>
        <p:spPr>
          <a:xfrm>
            <a:off x="3246120" y="1170432"/>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Today at a glance, school summary, support tips, messages, exports.</a:t>
            </a:r>
            <a:endParaRPr lang="en-US" sz="1100" dirty="0"/>
          </a:p>
        </p:txBody>
      </p:sp>
      <p:sp>
        <p:nvSpPr>
          <p:cNvPr id="11" name="Text 9"/>
          <p:cNvSpPr/>
          <p:nvPr/>
        </p:nvSpPr>
        <p:spPr>
          <a:xfrm>
            <a:off x="777240" y="1810512"/>
            <a:ext cx="228600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Teacher</a:t>
            </a:r>
            <a:endParaRPr lang="en-US" sz="1100" dirty="0"/>
          </a:p>
        </p:txBody>
      </p:sp>
      <p:sp>
        <p:nvSpPr>
          <p:cNvPr id="12" name="Text 10"/>
          <p:cNvSpPr/>
          <p:nvPr/>
        </p:nvSpPr>
        <p:spPr>
          <a:xfrm>
            <a:off x="3246120" y="1883664"/>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My pupils, today’s alerts, quick observation, strategies, missing handovers.</a:t>
            </a:r>
            <a:endParaRPr lang="en-US" sz="1100" dirty="0"/>
          </a:p>
        </p:txBody>
      </p:sp>
      <p:sp>
        <p:nvSpPr>
          <p:cNvPr id="13" name="Text 11"/>
          <p:cNvSpPr/>
          <p:nvPr/>
        </p:nvSpPr>
        <p:spPr>
          <a:xfrm>
            <a:off x="777240" y="2523744"/>
            <a:ext cx="228600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TA</a:t>
            </a:r>
            <a:endParaRPr lang="en-US" sz="1100" dirty="0"/>
          </a:p>
        </p:txBody>
      </p:sp>
      <p:sp>
        <p:nvSpPr>
          <p:cNvPr id="14" name="Text 12"/>
          <p:cNvSpPr/>
          <p:nvPr/>
        </p:nvSpPr>
        <p:spPr>
          <a:xfrm>
            <a:off x="3246120" y="2596896"/>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Assigned pupils, high-risk moments, quick log, immediate actions.</a:t>
            </a:r>
            <a:endParaRPr lang="en-US" sz="1100" dirty="0"/>
          </a:p>
        </p:txBody>
      </p:sp>
      <p:sp>
        <p:nvSpPr>
          <p:cNvPr id="15" name="Text 13"/>
          <p:cNvSpPr/>
          <p:nvPr/>
        </p:nvSpPr>
        <p:spPr>
          <a:xfrm>
            <a:off x="777240" y="3236976"/>
            <a:ext cx="228600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SENCO</a:t>
            </a:r>
            <a:endParaRPr lang="en-US" sz="1100" dirty="0"/>
          </a:p>
        </p:txBody>
      </p:sp>
      <p:sp>
        <p:nvSpPr>
          <p:cNvPr id="16" name="Text 14"/>
          <p:cNvSpPr/>
          <p:nvPr/>
        </p:nvSpPr>
        <p:spPr>
          <a:xfrm>
            <a:off x="3246120" y="3310128"/>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SEND register, emerging needs, reviews, evidence packs, EHCP deadlines, patterns.</a:t>
            </a:r>
            <a:endParaRPr lang="en-US" sz="1100" dirty="0"/>
          </a:p>
        </p:txBody>
      </p:sp>
      <p:sp>
        <p:nvSpPr>
          <p:cNvPr id="17" name="Text 15"/>
          <p:cNvSpPr/>
          <p:nvPr/>
        </p:nvSpPr>
        <p:spPr>
          <a:xfrm>
            <a:off x="777240" y="3950208"/>
            <a:ext cx="228600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School leadership</a:t>
            </a:r>
            <a:endParaRPr lang="en-US" sz="1100" dirty="0"/>
          </a:p>
        </p:txBody>
      </p:sp>
      <p:sp>
        <p:nvSpPr>
          <p:cNvPr id="18" name="Text 16"/>
          <p:cNvSpPr/>
          <p:nvPr/>
        </p:nvSpPr>
        <p:spPr>
          <a:xfrm>
            <a:off x="3246120" y="4023360"/>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Cohort health, workload, compliance, incident trends, adoption.</a:t>
            </a:r>
            <a:endParaRPr lang="en-US" sz="1100" dirty="0"/>
          </a:p>
        </p:txBody>
      </p:sp>
      <p:sp>
        <p:nvSpPr>
          <p:cNvPr id="19" name="Text 17"/>
          <p:cNvSpPr/>
          <p:nvPr/>
        </p:nvSpPr>
        <p:spPr>
          <a:xfrm>
            <a:off x="777240" y="4663440"/>
            <a:ext cx="228600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See My Mind admin</a:t>
            </a:r>
            <a:endParaRPr lang="en-US" sz="1100" dirty="0"/>
          </a:p>
        </p:txBody>
      </p:sp>
      <p:sp>
        <p:nvSpPr>
          <p:cNvPr id="20" name="Text 18"/>
          <p:cNvSpPr/>
          <p:nvPr/>
        </p:nvSpPr>
        <p:spPr>
          <a:xfrm>
            <a:off x="3246120" y="4736592"/>
            <a:ext cx="786384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Tenant status, support queue, uptime, usage, failed jobs, audit exceptions.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AI AND RAG</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AI / RAG conceptual architecture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AI should support interpretation and drafting, not become the unreviewed system of record</a:t>
            </a:r>
            <a:endParaRPr lang="en-US" sz="1100" dirty="0"/>
          </a:p>
        </p:txBody>
      </p:sp>
      <p:pic>
        <p:nvPicPr>
          <p:cNvPr id="9" name="Image 0" descr="/mnt/data/See_My_Mind_AI_Future_ERD.png"/>
          <p:cNvPicPr>
            <a:picLocks noChangeAspect="1"/>
          </p:cNvPicPr>
          <p:nvPr/>
        </p:nvPicPr>
        <p:blipFill>
          <a:blip r:embed="rId3"/>
          <a:stretch>
            <a:fillRect/>
          </a:stretch>
        </p:blipFill>
        <p:spPr>
          <a:xfrm>
            <a:off x="2895577" y="1234440"/>
            <a:ext cx="6370366" cy="4434840"/>
          </a:xfrm>
          <a:prstGeom prst="rect">
            <a:avLst/>
          </a:prstGeom>
        </p:spPr>
      </p:pic>
      <p:sp>
        <p:nvSpPr>
          <p:cNvPr id="10" name="Text 7"/>
          <p:cNvSpPr/>
          <p:nvPr/>
        </p:nvSpPr>
        <p:spPr>
          <a:xfrm>
            <a:off x="640080" y="5943600"/>
            <a:ext cx="10881360" cy="34747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AI outputs must be stored as AI Insight records with source evidence, model/run metadata, confidence/risk flag and human review status.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AI AND RAG</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AI safety and provenance guardrails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Separate facts, observations and inference</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No silent diagnosis</a:t>
            </a:r>
            <a:endParaRPr lang="en-US" sz="1050" dirty="0"/>
          </a:p>
          <a:p>
            <a:pPr marL="0" indent="0">
              <a:buNone/>
            </a:pPr>
            <a:r>
              <a:rPr lang="en-US" sz="1050" dirty="0">
                <a:solidFill>
                  <a:srgbClr val="3D4F5A"/>
                </a:solidFill>
              </a:rPr>
              <a:t>AI must not diagnose, label or make safeguarding decisions autonomously.</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Evidence linked</a:t>
            </a:r>
            <a:endParaRPr lang="en-US" sz="1050" dirty="0"/>
          </a:p>
          <a:p>
            <a:pPr marL="0" indent="0">
              <a:buNone/>
            </a:pPr>
            <a:r>
              <a:rPr lang="en-US" sz="1050" dirty="0">
                <a:solidFill>
                  <a:srgbClr val="3D4F5A"/>
                </a:solidFill>
              </a:rPr>
              <a:t>Every insight should cite the events/documents that informed it.</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Human review</a:t>
            </a:r>
            <a:endParaRPr lang="en-US" sz="1050" dirty="0"/>
          </a:p>
          <a:p>
            <a:pPr marL="0" indent="0">
              <a:buNone/>
            </a:pPr>
            <a:r>
              <a:rPr lang="en-US" sz="1050" dirty="0">
                <a:solidFill>
                  <a:srgbClr val="3D4F5A"/>
                </a:solidFill>
              </a:rPr>
              <a:t>AI-generated summaries and patterns need review before external sharing.</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Data minimisation</a:t>
            </a:r>
            <a:endParaRPr lang="en-US" sz="1050" dirty="0"/>
          </a:p>
          <a:p>
            <a:pPr marL="0" indent="0">
              <a:buNone/>
            </a:pPr>
            <a:r>
              <a:rPr lang="en-US" sz="1050" dirty="0">
                <a:solidFill>
                  <a:srgbClr val="3D4F5A"/>
                </a:solidFill>
              </a:rPr>
              <a:t>Send only the data needed for the specific AI task.</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Model/run logging</a:t>
            </a:r>
            <a:endParaRPr lang="en-US" sz="1050" dirty="0"/>
          </a:p>
          <a:p>
            <a:pPr marL="0" indent="0">
              <a:buNone/>
            </a:pPr>
            <a:r>
              <a:rPr lang="en-US" sz="1050" dirty="0">
                <a:solidFill>
                  <a:srgbClr val="3D4F5A"/>
                </a:solidFill>
              </a:rPr>
              <a:t>Store prompt class, model, timestamp, sources and output status.</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Opt-in advanced use</a:t>
            </a:r>
            <a:endParaRPr lang="en-US" sz="1050" dirty="0"/>
          </a:p>
          <a:p>
            <a:pPr marL="0" indent="0">
              <a:buNone/>
            </a:pPr>
            <a:r>
              <a:rPr lang="en-US" sz="1050" dirty="0">
                <a:solidFill>
                  <a:srgbClr val="3D4F5A"/>
                </a:solidFill>
              </a:rPr>
              <a:t>Parent Plus / careers or research reuse needs separate purpose and consent.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05</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05. Privacy, Tenancy and Security</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The platform has to be safe before it is clever</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Privacy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Privacy is a first-class architecture layer, not a policy PDF added later</a:t>
            </a:r>
            <a:endParaRPr lang="en-US" sz="1100" dirty="0"/>
          </a:p>
        </p:txBody>
      </p:sp>
      <p:sp>
        <p:nvSpPr>
          <p:cNvPr id="9" name="Text 7"/>
          <p:cNvSpPr/>
          <p:nvPr/>
        </p:nvSpPr>
        <p:spPr>
          <a:xfrm>
            <a:off x="685800" y="1143000"/>
            <a:ext cx="10515600" cy="4343400"/>
          </a:xfrm>
          <a:prstGeom prst="rect">
            <a:avLst/>
          </a:prstGeom>
          <a:noFill/>
          <a:ln/>
        </p:spPr>
        <p:txBody>
          <a:bodyPr wrap="square" lIns="508" tIns="508" rIns="508" bIns="508" rtlCol="0" anchor="ctr">
            <a:normAutofit/>
          </a:bodyPr>
          <a:lstStyle/>
          <a:p>
            <a:r>
              <a:rPr lang="en-US" sz="1260" dirty="0">
                <a:solidFill>
                  <a:srgbClr val="1A3A4A"/>
                </a:solidFill>
              </a:rPr>
              <a:t>Classify every field: basic personal data, special category/SEND data, safeguarding, contact data, system metadata, AI inference.</a:t>
            </a:r>
            <a:endParaRPr lang="en-US" sz="1260" dirty="0"/>
          </a:p>
          <a:p>
            <a:r>
              <a:rPr lang="en-US" sz="1260" dirty="0">
                <a:solidFill>
                  <a:srgbClr val="1A3A4A"/>
                </a:solidFill>
              </a:rPr>
              <a:t>Attach purpose and lawful basis to data capture and reuse: support, safeguarding, communication, reporting, product analytics, Parent Plus, research.</a:t>
            </a:r>
            <a:endParaRPr lang="en-US" sz="1260" dirty="0"/>
          </a:p>
          <a:p>
            <a:r>
              <a:rPr lang="en-US" sz="1260" dirty="0">
                <a:solidFill>
                  <a:srgbClr val="1A3A4A"/>
                </a:solidFill>
              </a:rPr>
              <a:t>Capture provenance: who reported it, who observed it, who generated it, who reviewed it.</a:t>
            </a:r>
            <a:endParaRPr lang="en-US" sz="1260" dirty="0"/>
          </a:p>
          <a:p>
            <a:r>
              <a:rPr lang="en-US" sz="1260" dirty="0">
                <a:solidFill>
                  <a:srgbClr val="1A3A4A"/>
                </a:solidFill>
              </a:rPr>
              <a:t>Minimise by role: parents, staff, SENCOs and external professionals do not need identical visibility.</a:t>
            </a:r>
            <a:endParaRPr lang="en-US" sz="1260" dirty="0"/>
          </a:p>
          <a:p>
            <a:r>
              <a:rPr lang="en-US" sz="1260" dirty="0">
                <a:solidFill>
                  <a:srgbClr val="1A3A4A"/>
                </a:solidFill>
              </a:rPr>
              <a:t>Consent and communication entitlement must be modelled per child/guardian relationship, not globally per person.</a:t>
            </a:r>
            <a:endParaRPr lang="en-US" sz="1260" dirty="0"/>
          </a:p>
          <a:p>
            <a:r>
              <a:rPr lang="en-US" sz="1260" dirty="0">
                <a:solidFill>
                  <a:srgbClr val="1A3A4A"/>
                </a:solidFill>
              </a:rPr>
              <a:t>Retention, deletion, archive and export must be designed before real data enters production.</a:t>
            </a:r>
            <a:endParaRPr lang="en-US" sz="12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Data classification and handling</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Classifying data controls visibility, export, audit and AI use</a:t>
            </a:r>
            <a:endParaRPr lang="en-US" sz="1100" dirty="0"/>
          </a:p>
        </p:txBody>
      </p:sp>
      <p:sp>
        <p:nvSpPr>
          <p:cNvPr id="9" name="Text 7"/>
          <p:cNvSpPr/>
          <p:nvPr/>
        </p:nvSpPr>
        <p:spPr>
          <a:xfrm>
            <a:off x="685800" y="1143000"/>
            <a:ext cx="1920240" cy="475488"/>
          </a:xfrm>
          <a:prstGeom prst="roundRect">
            <a:avLst>
              <a:gd name="adj" fmla="val 15385"/>
            </a:avLst>
          </a:prstGeom>
          <a:solidFill>
            <a:srgbClr val="E8F4F1"/>
          </a:solidFill>
          <a:ln w="12700">
            <a:solidFill>
              <a:srgbClr val="9ECFC4"/>
            </a:solidFill>
          </a:ln>
        </p:spPr>
        <p:txBody>
          <a:bodyPr wrap="square" lIns="1270" tIns="1270" rIns="1270" bIns="1270" rtlCol="0" anchor="ctr">
            <a:normAutofit/>
          </a:bodyPr>
          <a:lstStyle/>
          <a:p>
            <a:pPr marL="0" indent="0" algn="l">
              <a:buNone/>
            </a:pPr>
            <a:r>
              <a:rPr lang="en-US" sz="1050" dirty="0">
                <a:solidFill>
                  <a:srgbClr val="1A3A4A"/>
                </a:solidFill>
              </a:rPr>
              <a:t>Public/low</a:t>
            </a:r>
            <a:endParaRPr lang="en-US" sz="1050" dirty="0"/>
          </a:p>
        </p:txBody>
      </p:sp>
      <p:sp>
        <p:nvSpPr>
          <p:cNvPr id="10" name="Text 8"/>
          <p:cNvSpPr/>
          <p:nvPr/>
        </p:nvSpPr>
        <p:spPr>
          <a:xfrm>
            <a:off x="2834640" y="1170432"/>
            <a:ext cx="42062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School name, generic contact channels.</a:t>
            </a:r>
            <a:endParaRPr lang="en-US" sz="1060" dirty="0"/>
          </a:p>
        </p:txBody>
      </p:sp>
      <p:sp>
        <p:nvSpPr>
          <p:cNvPr id="11" name="Text 9"/>
          <p:cNvSpPr/>
          <p:nvPr/>
        </p:nvSpPr>
        <p:spPr>
          <a:xfrm>
            <a:off x="7315200" y="1170432"/>
            <a:ext cx="39776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Normal access controls</a:t>
            </a:r>
            <a:endParaRPr lang="en-US" sz="1060" dirty="0"/>
          </a:p>
        </p:txBody>
      </p:sp>
      <p:sp>
        <p:nvSpPr>
          <p:cNvPr id="12" name="Text 10"/>
          <p:cNvSpPr/>
          <p:nvPr/>
        </p:nvSpPr>
        <p:spPr>
          <a:xfrm>
            <a:off x="685800" y="1920240"/>
            <a:ext cx="1920240" cy="475488"/>
          </a:xfrm>
          <a:prstGeom prst="roundRect">
            <a:avLst>
              <a:gd name="adj" fmla="val 15385"/>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Personal</a:t>
            </a:r>
            <a:endParaRPr lang="en-US" sz="1050" dirty="0"/>
          </a:p>
        </p:txBody>
      </p:sp>
      <p:sp>
        <p:nvSpPr>
          <p:cNvPr id="13" name="Text 11"/>
          <p:cNvSpPr/>
          <p:nvPr/>
        </p:nvSpPr>
        <p:spPr>
          <a:xfrm>
            <a:off x="2834640" y="1947672"/>
            <a:ext cx="42062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Child name, DOB, guardian/staff contact details.</a:t>
            </a:r>
            <a:endParaRPr lang="en-US" sz="1060" dirty="0"/>
          </a:p>
        </p:txBody>
      </p:sp>
      <p:sp>
        <p:nvSpPr>
          <p:cNvPr id="14" name="Text 12"/>
          <p:cNvSpPr/>
          <p:nvPr/>
        </p:nvSpPr>
        <p:spPr>
          <a:xfrm>
            <a:off x="7315200" y="1947672"/>
            <a:ext cx="39776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Access by relationship and role</a:t>
            </a:r>
            <a:endParaRPr lang="en-US" sz="1060" dirty="0"/>
          </a:p>
        </p:txBody>
      </p:sp>
      <p:sp>
        <p:nvSpPr>
          <p:cNvPr id="15" name="Text 13"/>
          <p:cNvSpPr/>
          <p:nvPr/>
        </p:nvSpPr>
        <p:spPr>
          <a:xfrm>
            <a:off x="685800" y="2697480"/>
            <a:ext cx="1920240" cy="475488"/>
          </a:xfrm>
          <a:prstGeom prst="roundRect">
            <a:avLst>
              <a:gd name="adj" fmla="val 15385"/>
            </a:avLst>
          </a:prstGeom>
          <a:solidFill>
            <a:srgbClr val="FDF3DC"/>
          </a:solidFill>
          <a:ln w="12700">
            <a:solidFill>
              <a:srgbClr val="E8B84B"/>
            </a:solidFill>
          </a:ln>
        </p:spPr>
        <p:txBody>
          <a:bodyPr wrap="square" lIns="1270" tIns="1270" rIns="1270" bIns="1270" rtlCol="0" anchor="ctr">
            <a:normAutofit/>
          </a:bodyPr>
          <a:lstStyle/>
          <a:p>
            <a:pPr marL="0" indent="0" algn="l">
              <a:buNone/>
            </a:pPr>
            <a:r>
              <a:rPr lang="en-US" sz="1050" dirty="0">
                <a:solidFill>
                  <a:srgbClr val="1A3A4A"/>
                </a:solidFill>
              </a:rPr>
              <a:t>Sensitive SEND</a:t>
            </a:r>
            <a:endParaRPr lang="en-US" sz="1050" dirty="0"/>
          </a:p>
        </p:txBody>
      </p:sp>
      <p:sp>
        <p:nvSpPr>
          <p:cNvPr id="16" name="Text 14"/>
          <p:cNvSpPr/>
          <p:nvPr/>
        </p:nvSpPr>
        <p:spPr>
          <a:xfrm>
            <a:off x="2834640" y="2724912"/>
            <a:ext cx="42062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Diagnosis, support needs, EHCP, observations, medication context.</a:t>
            </a:r>
            <a:endParaRPr lang="en-US" sz="1060" dirty="0"/>
          </a:p>
        </p:txBody>
      </p:sp>
      <p:sp>
        <p:nvSpPr>
          <p:cNvPr id="17" name="Text 15"/>
          <p:cNvSpPr/>
          <p:nvPr/>
        </p:nvSpPr>
        <p:spPr>
          <a:xfrm>
            <a:off x="7315200" y="2724912"/>
            <a:ext cx="39776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Need-to-know, audit, explicit visibility</a:t>
            </a:r>
            <a:endParaRPr lang="en-US" sz="1060" dirty="0"/>
          </a:p>
        </p:txBody>
      </p:sp>
      <p:sp>
        <p:nvSpPr>
          <p:cNvPr id="18" name="Text 16"/>
          <p:cNvSpPr/>
          <p:nvPr/>
        </p:nvSpPr>
        <p:spPr>
          <a:xfrm>
            <a:off x="685800" y="3474720"/>
            <a:ext cx="1920240" cy="475488"/>
          </a:xfrm>
          <a:prstGeom prst="roundRect">
            <a:avLst>
              <a:gd name="adj" fmla="val 15385"/>
            </a:avLst>
          </a:prstGeom>
          <a:solidFill>
            <a:srgbClr val="F4A89A"/>
          </a:solidFill>
          <a:ln w="12700">
            <a:solidFill>
              <a:srgbClr val="C5503E"/>
            </a:solidFill>
          </a:ln>
        </p:spPr>
        <p:txBody>
          <a:bodyPr wrap="square" lIns="1270" tIns="1270" rIns="1270" bIns="1270" rtlCol="0" anchor="ctr">
            <a:normAutofit/>
          </a:bodyPr>
          <a:lstStyle/>
          <a:p>
            <a:pPr marL="0" indent="0" algn="l">
              <a:buNone/>
            </a:pPr>
            <a:r>
              <a:rPr lang="en-US" sz="1050" dirty="0">
                <a:solidFill>
                  <a:srgbClr val="1A3A4A"/>
                </a:solidFill>
              </a:rPr>
              <a:t>Safeguarding/high risk</a:t>
            </a:r>
            <a:endParaRPr lang="en-US" sz="1050" dirty="0"/>
          </a:p>
        </p:txBody>
      </p:sp>
      <p:sp>
        <p:nvSpPr>
          <p:cNvPr id="19" name="Text 17"/>
          <p:cNvSpPr/>
          <p:nvPr/>
        </p:nvSpPr>
        <p:spPr>
          <a:xfrm>
            <a:off x="2834640" y="3502152"/>
            <a:ext cx="42062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Critical incidents, restricted notes, professional concerns.</a:t>
            </a:r>
            <a:endParaRPr lang="en-US" sz="1060" dirty="0"/>
          </a:p>
        </p:txBody>
      </p:sp>
      <p:sp>
        <p:nvSpPr>
          <p:cNvPr id="20" name="Text 18"/>
          <p:cNvSpPr/>
          <p:nvPr/>
        </p:nvSpPr>
        <p:spPr>
          <a:xfrm>
            <a:off x="7315200" y="3502152"/>
            <a:ext cx="39776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Restricted roles, enhanced audit, export control</a:t>
            </a:r>
            <a:endParaRPr lang="en-US" sz="1060" dirty="0"/>
          </a:p>
        </p:txBody>
      </p:sp>
      <p:sp>
        <p:nvSpPr>
          <p:cNvPr id="21" name="Text 19"/>
          <p:cNvSpPr/>
          <p:nvPr/>
        </p:nvSpPr>
        <p:spPr>
          <a:xfrm>
            <a:off x="685800" y="4251960"/>
            <a:ext cx="1920240" cy="475488"/>
          </a:xfrm>
          <a:prstGeom prst="roundRect">
            <a:avLst>
              <a:gd name="adj" fmla="val 15385"/>
            </a:avLst>
          </a:prstGeom>
          <a:solidFill>
            <a:srgbClr val="9B8DC2"/>
          </a:solidFill>
          <a:ln w="12700">
            <a:solidFill>
              <a:srgbClr val="5E4D9A"/>
            </a:solidFill>
          </a:ln>
        </p:spPr>
        <p:txBody>
          <a:bodyPr wrap="square" lIns="1270" tIns="1270" rIns="1270" bIns="1270" rtlCol="0" anchor="ctr">
            <a:normAutofit/>
          </a:bodyPr>
          <a:lstStyle/>
          <a:p>
            <a:pPr marL="0" indent="0" algn="l">
              <a:buNone/>
            </a:pPr>
            <a:r>
              <a:rPr lang="en-US" sz="1050" dirty="0">
                <a:solidFill>
                  <a:srgbClr val="1A3A4A"/>
                </a:solidFill>
              </a:rPr>
              <a:t>AI generated</a:t>
            </a:r>
            <a:endParaRPr lang="en-US" sz="1050" dirty="0"/>
          </a:p>
        </p:txBody>
      </p:sp>
      <p:sp>
        <p:nvSpPr>
          <p:cNvPr id="22" name="Text 20"/>
          <p:cNvSpPr/>
          <p:nvPr/>
        </p:nvSpPr>
        <p:spPr>
          <a:xfrm>
            <a:off x="2834640" y="4279392"/>
            <a:ext cx="42062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Patterns, summaries, recommendations, confidence.</a:t>
            </a:r>
            <a:endParaRPr lang="en-US" sz="1060" dirty="0"/>
          </a:p>
        </p:txBody>
      </p:sp>
      <p:sp>
        <p:nvSpPr>
          <p:cNvPr id="23" name="Text 21"/>
          <p:cNvSpPr/>
          <p:nvPr/>
        </p:nvSpPr>
        <p:spPr>
          <a:xfrm>
            <a:off x="7315200" y="4279392"/>
            <a:ext cx="3977640" cy="384048"/>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Human review and evidence links</a:t>
            </a:r>
            <a:endParaRPr lang="en-US" sz="10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Multi-tenancy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School isolation should be explicit and testable</a:t>
            </a:r>
            <a:endParaRPr lang="en-US" sz="1100" dirty="0"/>
          </a:p>
        </p:txBody>
      </p:sp>
      <p:sp>
        <p:nvSpPr>
          <p:cNvPr id="9" name="Text 7"/>
          <p:cNvSpPr/>
          <p:nvPr/>
        </p:nvSpPr>
        <p:spPr>
          <a:xfrm>
            <a:off x="777240" y="1234440"/>
            <a:ext cx="3337560" cy="2194560"/>
          </a:xfrm>
          <a:prstGeom prst="roundRect">
            <a:avLst>
              <a:gd name="adj" fmla="val 3333"/>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200" dirty="0">
                <a:solidFill>
                  <a:srgbClr val="1A3A4A"/>
                </a:solidFill>
              </a:rPr>
              <a:t>Option A</a:t>
            </a:r>
            <a:endParaRPr lang="en-US" sz="1200" dirty="0"/>
          </a:p>
          <a:p>
            <a:pPr marL="0" indent="0" algn="l">
              <a:buNone/>
            </a:pPr>
            <a:r>
              <a:rPr lang="en-US" sz="1200" dirty="0">
                <a:solidFill>
                  <a:srgbClr val="1A3A4A"/>
                </a:solidFill>
              </a:rPr>
              <a:t>Site/database per school</a:t>
            </a:r>
            <a:endParaRPr lang="en-US" sz="1200" dirty="0"/>
          </a:p>
          <a:p>
            <a:pPr marL="0" indent="0" algn="l">
              <a:buNone/>
            </a:pPr>
            <a:r>
              <a:rPr lang="en-US" sz="1200" dirty="0">
                <a:solidFill>
                  <a:srgbClr val="1A3A4A"/>
                </a:solidFill>
              </a:rPr>
              <a:t>Strongest isolation; cleaner breach boundary; more operational management</a:t>
            </a:r>
            <a:endParaRPr lang="en-US" sz="1200" dirty="0"/>
          </a:p>
        </p:txBody>
      </p:sp>
      <p:sp>
        <p:nvSpPr>
          <p:cNvPr id="10" name="Text 8"/>
          <p:cNvSpPr/>
          <p:nvPr/>
        </p:nvSpPr>
        <p:spPr>
          <a:xfrm>
            <a:off x="4434840" y="1234440"/>
            <a:ext cx="3337560" cy="2194560"/>
          </a:xfrm>
          <a:prstGeom prst="roundRect">
            <a:avLst>
              <a:gd name="adj" fmla="val 3333"/>
            </a:avLst>
          </a:prstGeom>
          <a:solidFill>
            <a:srgbClr val="FDF3DC"/>
          </a:solidFill>
          <a:ln w="12700">
            <a:solidFill>
              <a:srgbClr val="E8B84B"/>
            </a:solidFill>
          </a:ln>
        </p:spPr>
        <p:txBody>
          <a:bodyPr wrap="square" lIns="1270" tIns="1270" rIns="1270" bIns="1270" rtlCol="0" anchor="t">
            <a:normAutofit/>
          </a:bodyPr>
          <a:lstStyle/>
          <a:p>
            <a:pPr marL="0" indent="0" algn="l">
              <a:buNone/>
            </a:pPr>
            <a:r>
              <a:rPr lang="en-US" sz="1200" dirty="0">
                <a:solidFill>
                  <a:srgbClr val="1A3A4A"/>
                </a:solidFill>
              </a:rPr>
              <a:t>Option B</a:t>
            </a:r>
            <a:endParaRPr lang="en-US" sz="1200" dirty="0"/>
          </a:p>
          <a:p>
            <a:pPr marL="0" indent="0" algn="l">
              <a:buNone/>
            </a:pPr>
            <a:r>
              <a:rPr lang="en-US" sz="1200" dirty="0">
                <a:solidFill>
                  <a:srgbClr val="1A3A4A"/>
                </a:solidFill>
              </a:rPr>
              <a:t>Shared database with school_id</a:t>
            </a:r>
            <a:endParaRPr lang="en-US" sz="1200" dirty="0"/>
          </a:p>
          <a:p>
            <a:pPr marL="0" indent="0" algn="l">
              <a:buNone/>
            </a:pPr>
            <a:r>
              <a:rPr lang="en-US" sz="1200" dirty="0">
                <a:solidFill>
                  <a:srgbClr val="1A3A4A"/>
                </a:solidFill>
              </a:rPr>
              <a:t>Lower operational overhead; higher permission and query risk</a:t>
            </a:r>
            <a:endParaRPr lang="en-US" sz="1200" dirty="0"/>
          </a:p>
        </p:txBody>
      </p:sp>
      <p:sp>
        <p:nvSpPr>
          <p:cNvPr id="11" name="Text 9"/>
          <p:cNvSpPr/>
          <p:nvPr/>
        </p:nvSpPr>
        <p:spPr>
          <a:xfrm>
            <a:off x="8092440" y="1234440"/>
            <a:ext cx="3337560" cy="2194560"/>
          </a:xfrm>
          <a:prstGeom prst="roundRect">
            <a:avLst>
              <a:gd name="adj" fmla="val 3333"/>
            </a:avLst>
          </a:prstGeom>
          <a:solidFill>
            <a:srgbClr val="1A3A4A"/>
          </a:solidFill>
          <a:ln w="12700">
            <a:solidFill>
              <a:srgbClr val="1A3A4A"/>
            </a:solidFill>
          </a:ln>
        </p:spPr>
        <p:txBody>
          <a:bodyPr wrap="square" lIns="1270" tIns="1270" rIns="1270" bIns="1270" rtlCol="0" anchor="t">
            <a:normAutofit/>
          </a:bodyPr>
          <a:lstStyle/>
          <a:p>
            <a:pPr marL="0" indent="0" algn="l">
              <a:buNone/>
            </a:pPr>
            <a:r>
              <a:rPr lang="en-US" sz="1200" dirty="0">
                <a:solidFill>
                  <a:srgbClr val="FFFFFF"/>
                </a:solidFill>
              </a:rPr>
              <a:t>Recommendation</a:t>
            </a:r>
            <a:endParaRPr lang="en-US" sz="1200" dirty="0"/>
          </a:p>
          <a:p>
            <a:pPr marL="0" indent="0" algn="l">
              <a:buNone/>
            </a:pPr>
            <a:r>
              <a:rPr lang="en-US" sz="1200" dirty="0">
                <a:solidFill>
                  <a:srgbClr val="FFFFFF"/>
                </a:solidFill>
              </a:rPr>
              <a:t>Prototype with site-per-school assumption where possible; central reporting only through controlled export/aggregation</a:t>
            </a:r>
            <a:endParaRPr lang="en-US" sz="1200" dirty="0"/>
          </a:p>
        </p:txBody>
      </p:sp>
      <p:sp>
        <p:nvSpPr>
          <p:cNvPr id="12" name="Text 10"/>
          <p:cNvSpPr/>
          <p:nvPr/>
        </p:nvSpPr>
        <p:spPr>
          <a:xfrm>
            <a:off x="868680" y="4160520"/>
            <a:ext cx="10378440" cy="73152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The architecture should support: school data isolation, separate user sets, per-school configuration, tenant-specific backups, controlled support access, and safe anonymised/aggregated reporting later.</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Entitlement and access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Who can see a record must be derived from role + relationship + visibility + data classification</a:t>
            </a:r>
            <a:endParaRPr lang="en-US" sz="1100" dirty="0"/>
          </a:p>
        </p:txBody>
      </p:sp>
      <p:sp>
        <p:nvSpPr>
          <p:cNvPr id="9" name="Shape 7"/>
          <p:cNvSpPr/>
          <p:nvPr/>
        </p:nvSpPr>
        <p:spPr>
          <a:xfrm>
            <a:off x="2651760" y="2286000"/>
            <a:ext cx="320040" cy="0"/>
          </a:xfrm>
          <a:prstGeom prst="line">
            <a:avLst/>
          </a:prstGeom>
          <a:noFill/>
          <a:ln w="12700">
            <a:solidFill>
              <a:srgbClr val="627984"/>
            </a:solidFill>
            <a:prstDash val="solid"/>
            <a:tailEnd type="triangle"/>
          </a:ln>
        </p:spPr>
        <p:txBody>
          <a:bodyPr/>
          <a:lstStyle/>
          <a:p>
            <a:endParaRPr lang="en-GB"/>
          </a:p>
        </p:txBody>
      </p:sp>
      <p:sp>
        <p:nvSpPr>
          <p:cNvPr id="10" name="Text 8"/>
          <p:cNvSpPr/>
          <p:nvPr/>
        </p:nvSpPr>
        <p:spPr>
          <a:xfrm>
            <a:off x="685800" y="1600200"/>
            <a:ext cx="1691640" cy="1371600"/>
          </a:xfrm>
          <a:prstGeom prst="roundRect">
            <a:avLst>
              <a:gd name="adj" fmla="val 5333"/>
            </a:avLst>
          </a:prstGeom>
          <a:solidFill>
            <a:srgbClr val="E8F4F1"/>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Role</a:t>
            </a:r>
            <a:endParaRPr lang="en-US" sz="1050" dirty="0"/>
          </a:p>
          <a:p>
            <a:pPr marL="0" indent="0" algn="l">
              <a:buNone/>
            </a:pPr>
            <a:r>
              <a:rPr lang="en-US" sz="1050" dirty="0">
                <a:solidFill>
                  <a:srgbClr val="1A3A4A"/>
                </a:solidFill>
              </a:rPr>
              <a:t>Parent, child, teacher, TA, SENCO, admin, specialist, support.</a:t>
            </a:r>
            <a:endParaRPr lang="en-US" sz="1050" dirty="0"/>
          </a:p>
        </p:txBody>
      </p:sp>
      <p:sp>
        <p:nvSpPr>
          <p:cNvPr id="11" name="Shape 9"/>
          <p:cNvSpPr/>
          <p:nvPr/>
        </p:nvSpPr>
        <p:spPr>
          <a:xfrm>
            <a:off x="4663440" y="2286000"/>
            <a:ext cx="320040" cy="0"/>
          </a:xfrm>
          <a:prstGeom prst="line">
            <a:avLst/>
          </a:prstGeom>
          <a:noFill/>
          <a:ln w="12700">
            <a:solidFill>
              <a:srgbClr val="627984"/>
            </a:solidFill>
            <a:prstDash val="solid"/>
            <a:tailEnd type="triangle"/>
          </a:ln>
        </p:spPr>
        <p:txBody>
          <a:bodyPr/>
          <a:lstStyle/>
          <a:p>
            <a:endParaRPr lang="en-GB"/>
          </a:p>
        </p:txBody>
      </p:sp>
      <p:sp>
        <p:nvSpPr>
          <p:cNvPr id="12" name="Text 10"/>
          <p:cNvSpPr/>
          <p:nvPr/>
        </p:nvSpPr>
        <p:spPr>
          <a:xfrm>
            <a:off x="2697480" y="1600200"/>
            <a:ext cx="1691640" cy="1371600"/>
          </a:xfrm>
          <a:prstGeom prst="roundRect">
            <a:avLst>
              <a:gd name="adj" fmla="val 5333"/>
            </a:avLst>
          </a:prstGeom>
          <a:solidFill>
            <a:srgbClr val="FFFFFF"/>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Relationship</a:t>
            </a:r>
            <a:endParaRPr lang="en-US" sz="1050" dirty="0"/>
          </a:p>
          <a:p>
            <a:pPr marL="0" indent="0" algn="l">
              <a:buNone/>
            </a:pPr>
            <a:r>
              <a:rPr lang="en-US" sz="1050" dirty="0">
                <a:solidFill>
                  <a:srgbClr val="1A3A4A"/>
                </a:solidFill>
              </a:rPr>
              <a:t>Guardian link, staff assignment, child assignment, school membership.</a:t>
            </a:r>
            <a:endParaRPr lang="en-US" sz="1050" dirty="0"/>
          </a:p>
        </p:txBody>
      </p:sp>
      <p:sp>
        <p:nvSpPr>
          <p:cNvPr id="13" name="Shape 11"/>
          <p:cNvSpPr/>
          <p:nvPr/>
        </p:nvSpPr>
        <p:spPr>
          <a:xfrm>
            <a:off x="6675120" y="2286000"/>
            <a:ext cx="320040" cy="0"/>
          </a:xfrm>
          <a:prstGeom prst="line">
            <a:avLst/>
          </a:prstGeom>
          <a:noFill/>
          <a:ln w="12700">
            <a:solidFill>
              <a:srgbClr val="627984"/>
            </a:solidFill>
            <a:prstDash val="solid"/>
            <a:tailEnd type="triangle"/>
          </a:ln>
        </p:spPr>
        <p:txBody>
          <a:bodyPr/>
          <a:lstStyle/>
          <a:p>
            <a:endParaRPr lang="en-GB"/>
          </a:p>
        </p:txBody>
      </p:sp>
      <p:sp>
        <p:nvSpPr>
          <p:cNvPr id="14" name="Text 12"/>
          <p:cNvSpPr/>
          <p:nvPr/>
        </p:nvSpPr>
        <p:spPr>
          <a:xfrm>
            <a:off x="4709160" y="1600200"/>
            <a:ext cx="1691640" cy="1371600"/>
          </a:xfrm>
          <a:prstGeom prst="roundRect">
            <a:avLst>
              <a:gd name="adj" fmla="val 5333"/>
            </a:avLst>
          </a:prstGeom>
          <a:solidFill>
            <a:srgbClr val="FDF3DC"/>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Record visibility</a:t>
            </a:r>
            <a:endParaRPr lang="en-US" sz="1050" dirty="0"/>
          </a:p>
          <a:p>
            <a:pPr marL="0" indent="0" algn="l">
              <a:buNone/>
            </a:pPr>
            <a:r>
              <a:rPr lang="en-US" sz="1050" dirty="0">
                <a:solidFill>
                  <a:srgbClr val="1A3A4A"/>
                </a:solidFill>
              </a:rPr>
              <a:t>School staff only, guardian and school, child/guardian/school, restricted.</a:t>
            </a:r>
            <a:endParaRPr lang="en-US" sz="1050" dirty="0"/>
          </a:p>
        </p:txBody>
      </p:sp>
      <p:sp>
        <p:nvSpPr>
          <p:cNvPr id="15" name="Shape 13"/>
          <p:cNvSpPr/>
          <p:nvPr/>
        </p:nvSpPr>
        <p:spPr>
          <a:xfrm>
            <a:off x="8686800" y="2286000"/>
            <a:ext cx="320040" cy="0"/>
          </a:xfrm>
          <a:prstGeom prst="line">
            <a:avLst/>
          </a:prstGeom>
          <a:noFill/>
          <a:ln w="12700">
            <a:solidFill>
              <a:srgbClr val="627984"/>
            </a:solidFill>
            <a:prstDash val="solid"/>
            <a:tailEnd type="triangle"/>
          </a:ln>
        </p:spPr>
        <p:txBody>
          <a:bodyPr/>
          <a:lstStyle/>
          <a:p>
            <a:endParaRPr lang="en-GB"/>
          </a:p>
        </p:txBody>
      </p:sp>
      <p:sp>
        <p:nvSpPr>
          <p:cNvPr id="16" name="Text 14"/>
          <p:cNvSpPr/>
          <p:nvPr/>
        </p:nvSpPr>
        <p:spPr>
          <a:xfrm>
            <a:off x="6720840" y="1600200"/>
            <a:ext cx="1691640" cy="1371600"/>
          </a:xfrm>
          <a:prstGeom prst="roundRect">
            <a:avLst>
              <a:gd name="adj" fmla="val 5333"/>
            </a:avLst>
          </a:prstGeom>
          <a:solidFill>
            <a:srgbClr val="DDD8F0"/>
          </a:solidFill>
          <a:ln w="12700">
            <a:solidFill>
              <a:srgbClr val="9ECFC4"/>
            </a:solidFill>
          </a:ln>
        </p:spPr>
        <p:txBody>
          <a:bodyPr wrap="square" lIns="1270" tIns="1270" rIns="1270" bIns="1270" rtlCol="0" anchor="t">
            <a:normAutofit/>
          </a:bodyPr>
          <a:lstStyle/>
          <a:p>
            <a:pPr marL="0" indent="0" algn="l">
              <a:buNone/>
            </a:pPr>
            <a:r>
              <a:rPr lang="en-US" sz="1050" dirty="0">
                <a:solidFill>
                  <a:srgbClr val="1A3A4A"/>
                </a:solidFill>
              </a:rPr>
              <a:t>Data classification</a:t>
            </a:r>
            <a:endParaRPr lang="en-US" sz="1050" dirty="0"/>
          </a:p>
          <a:p>
            <a:pPr marL="0" indent="0" algn="l">
              <a:buNone/>
            </a:pPr>
            <a:r>
              <a:rPr lang="en-US" sz="1050" dirty="0">
                <a:solidFill>
                  <a:srgbClr val="1A3A4A"/>
                </a:solidFill>
              </a:rPr>
              <a:t>Normal, sensitive SEND, safeguarding, AI, export-restricted.</a:t>
            </a:r>
            <a:endParaRPr lang="en-US" sz="1050" dirty="0"/>
          </a:p>
        </p:txBody>
      </p:sp>
      <p:sp>
        <p:nvSpPr>
          <p:cNvPr id="17" name="Text 15"/>
          <p:cNvSpPr/>
          <p:nvPr/>
        </p:nvSpPr>
        <p:spPr>
          <a:xfrm>
            <a:off x="8732520" y="1600200"/>
            <a:ext cx="1691640" cy="1371600"/>
          </a:xfrm>
          <a:prstGeom prst="roundRect">
            <a:avLst>
              <a:gd name="adj" fmla="val 5333"/>
            </a:avLst>
          </a:prstGeom>
          <a:solidFill>
            <a:srgbClr val="1A3A4A"/>
          </a:solidFill>
          <a:ln w="12700">
            <a:solidFill>
              <a:srgbClr val="9ECFC4"/>
            </a:solidFill>
          </a:ln>
        </p:spPr>
        <p:txBody>
          <a:bodyPr wrap="square" lIns="1270" tIns="1270" rIns="1270" bIns="1270" rtlCol="0" anchor="t">
            <a:normAutofit/>
          </a:bodyPr>
          <a:lstStyle/>
          <a:p>
            <a:pPr marL="0" indent="0" algn="l">
              <a:buNone/>
            </a:pPr>
            <a:r>
              <a:rPr lang="en-US" sz="1050" dirty="0">
                <a:solidFill>
                  <a:srgbClr val="FFFFFF"/>
                </a:solidFill>
              </a:rPr>
              <a:t>Action permission</a:t>
            </a:r>
            <a:endParaRPr lang="en-US" sz="1050" dirty="0"/>
          </a:p>
          <a:p>
            <a:pPr marL="0" indent="0" algn="l">
              <a:buNone/>
            </a:pPr>
            <a:r>
              <a:rPr lang="en-US" sz="1050" dirty="0">
                <a:solidFill>
                  <a:srgbClr val="FFFFFF"/>
                </a:solidFill>
              </a:rPr>
              <a:t>Read, create, edit, submit, review, export, delete, administer.</a:t>
            </a:r>
            <a:endParaRPr lang="en-US" sz="1050" dirty="0"/>
          </a:p>
        </p:txBody>
      </p:sp>
      <p:sp>
        <p:nvSpPr>
          <p:cNvPr id="18" name="Text 16"/>
          <p:cNvSpPr/>
          <p:nvPr/>
        </p:nvSpPr>
        <p:spPr>
          <a:xfrm>
            <a:off x="868680" y="4206240"/>
            <a:ext cx="10378440" cy="777240"/>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Entitlement must be tested negatively: unassigned staff cannot access child, guardian cannot access non-linked child, School A cannot see School B, restricted notes stay restricted, exports respect visibility.</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Authentication and 2FA</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Two-factor authentication is mandatory for production users with access to sensitive data</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Identity</a:t>
            </a:r>
            <a:endParaRPr lang="en-US" sz="1050" dirty="0"/>
          </a:p>
          <a:p>
            <a:pPr marL="0" indent="0">
              <a:buNone/>
            </a:pPr>
            <a:r>
              <a:rPr lang="en-US" sz="1050" dirty="0">
                <a:solidFill>
                  <a:srgbClr val="3D4F5A"/>
                </a:solidFill>
              </a:rPr>
              <a:t>Frappe user accounts for POC; later evaluate school SSO/OAuth/SAML where required.</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2FA baseline</a:t>
            </a:r>
            <a:endParaRPr lang="en-US" sz="1050" dirty="0"/>
          </a:p>
          <a:p>
            <a:pPr marL="0" indent="0">
              <a:buNone/>
            </a:pPr>
            <a:r>
              <a:rPr lang="en-US" sz="1050" dirty="0">
                <a:solidFill>
                  <a:srgbClr val="3D4F5A"/>
                </a:solidFill>
              </a:rPr>
              <a:t>Mandatory OTP app/email/SMS policy for staff/admin; consider guardian 2FA depending on usability and risk.</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Session security</a:t>
            </a:r>
            <a:endParaRPr lang="en-US" sz="1050" dirty="0"/>
          </a:p>
          <a:p>
            <a:pPr marL="0" indent="0">
              <a:buNone/>
            </a:pPr>
            <a:r>
              <a:rPr lang="en-US" sz="1050" dirty="0">
                <a:solidFill>
                  <a:srgbClr val="3D4F5A"/>
                </a:solidFill>
              </a:rPr>
              <a:t>Secure cookies, HTTPS only, timeout, device/session review, account lockout and rate limiting.</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Admin controls</a:t>
            </a:r>
            <a:endParaRPr lang="en-US" sz="1050" dirty="0"/>
          </a:p>
          <a:p>
            <a:pPr marL="0" indent="0">
              <a:buNone/>
            </a:pPr>
            <a:r>
              <a:rPr lang="en-US" sz="1050" dirty="0">
                <a:solidFill>
                  <a:srgbClr val="3D4F5A"/>
                </a:solidFill>
              </a:rPr>
              <a:t>Separate System Manager, See My Mind Admin and School Admin roles. No shared accounts.</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On/offboarding</a:t>
            </a:r>
            <a:endParaRPr lang="en-US" sz="1050" dirty="0"/>
          </a:p>
          <a:p>
            <a:pPr marL="0" indent="0">
              <a:buNone/>
            </a:pPr>
            <a:r>
              <a:rPr lang="en-US" sz="1050" dirty="0">
                <a:solidFill>
                  <a:srgbClr val="3D4F5A"/>
                </a:solidFill>
              </a:rPr>
              <a:t>Joiner/leaver process for school staff and immediate revocation on assignment end.</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Recovery</a:t>
            </a:r>
            <a:endParaRPr lang="en-US" sz="1050" dirty="0"/>
          </a:p>
          <a:p>
            <a:pPr marL="0" indent="0">
              <a:buNone/>
            </a:pPr>
            <a:r>
              <a:rPr lang="en-US" sz="1050" dirty="0">
                <a:solidFill>
                  <a:srgbClr val="3D4F5A"/>
                </a:solidFill>
              </a:rPr>
              <a:t>Password reset flows must not expose child data or enable social engineering.</a:t>
            </a:r>
            <a:endParaRPr lang="en-US" sz="1050" dirty="0"/>
          </a:p>
        </p:txBody>
      </p:sp>
      <p:sp>
        <p:nvSpPr>
          <p:cNvPr id="15" name="Text 13"/>
          <p:cNvSpPr/>
          <p:nvPr/>
        </p:nvSpPr>
        <p:spPr>
          <a:xfrm>
            <a:off x="502920" y="6272784"/>
            <a:ext cx="11155680" cy="137160"/>
          </a:xfrm>
          <a:prstGeom prst="rect">
            <a:avLst/>
          </a:prstGeom>
          <a:noFill/>
          <a:ln/>
        </p:spPr>
        <p:txBody>
          <a:bodyPr wrap="square" lIns="0" tIns="0" rIns="0" bIns="0" rtlCol="0" anchor="ctr"/>
          <a:lstStyle/>
          <a:p>
            <a:pPr marL="0" indent="0">
              <a:buNone/>
            </a:pPr>
            <a:r>
              <a:rPr lang="en-US" sz="650" dirty="0">
                <a:solidFill>
                  <a:srgbClr val="627984"/>
                </a:solidFill>
              </a:rPr>
              <a:t>Frappe/ERPNext supports two-factor authentication options including OTP app, SMS and email; production policy and testing remain application responsibilities.</a:t>
            </a:r>
            <a:endParaRPr lang="en-US" sz="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PRIVACY AND SECURITY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Audit, monitoring and support access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Sensitive data systems need an audit trail that normal users cannot bypass</a:t>
            </a:r>
            <a:endParaRPr lang="en-US" sz="1100" dirty="0"/>
          </a:p>
        </p:txBody>
      </p:sp>
      <p:sp>
        <p:nvSpPr>
          <p:cNvPr id="9" name="Text 7"/>
          <p:cNvSpPr/>
          <p:nvPr/>
        </p:nvSpPr>
        <p:spPr>
          <a:xfrm>
            <a:off x="685800" y="1143000"/>
            <a:ext cx="10515600" cy="4343400"/>
          </a:xfrm>
          <a:prstGeom prst="rect">
            <a:avLst/>
          </a:prstGeom>
          <a:noFill/>
          <a:ln/>
        </p:spPr>
        <p:txBody>
          <a:bodyPr wrap="square" lIns="508" tIns="508" rIns="508" bIns="508" rtlCol="0" anchor="ctr">
            <a:normAutofit/>
          </a:bodyPr>
          <a:lstStyle/>
          <a:p>
            <a:r>
              <a:rPr lang="en-US" sz="1260" dirty="0">
                <a:solidFill>
                  <a:srgbClr val="1A3A4A"/>
                </a:solidFill>
              </a:rPr>
              <a:t>Audit every view, create, edit, submit, export, delete, permission change and support access to sensitive records.</a:t>
            </a:r>
            <a:endParaRPr lang="en-US" sz="1260" dirty="0"/>
          </a:p>
          <a:p>
            <a:r>
              <a:rPr lang="en-US" sz="1260" dirty="0">
                <a:solidFill>
                  <a:srgbClr val="1A3A4A"/>
                </a:solidFill>
              </a:rPr>
              <a:t>Track who changed guardian entitlement, staff assignment, visibility and data classification.</a:t>
            </a:r>
            <a:endParaRPr lang="en-US" sz="1260" dirty="0"/>
          </a:p>
          <a:p>
            <a:r>
              <a:rPr lang="en-US" sz="1260" dirty="0">
                <a:solidFill>
                  <a:srgbClr val="1A3A4A"/>
                </a:solidFill>
              </a:rPr>
              <a:t>Create exception reports for failed login bursts, unusual exports, cross-tenant errors and elevated permissions.</a:t>
            </a:r>
            <a:endParaRPr lang="en-US" sz="1260" dirty="0"/>
          </a:p>
          <a:p>
            <a:r>
              <a:rPr lang="en-US" sz="1260" dirty="0">
                <a:solidFill>
                  <a:srgbClr val="1A3A4A"/>
                </a:solidFill>
              </a:rPr>
              <a:t>Log background jobs, notification delivery, AI runs, report generation and import/export outcomes.</a:t>
            </a:r>
            <a:endParaRPr lang="en-US" sz="1260" dirty="0"/>
          </a:p>
          <a:p>
            <a:r>
              <a:rPr lang="en-US" sz="1260" dirty="0">
                <a:solidFill>
                  <a:srgbClr val="1A3A4A"/>
                </a:solidFill>
              </a:rPr>
              <a:t>Give support staff controlled break-glass access with reason, approval and audit.</a:t>
            </a:r>
            <a:endParaRPr lang="en-US" sz="1260" dirty="0"/>
          </a:p>
          <a:p>
            <a:r>
              <a:rPr lang="en-US" sz="1260" dirty="0">
                <a:solidFill>
                  <a:srgbClr val="1A3A4A"/>
                </a:solidFill>
              </a:rPr>
              <a:t>Define incident response: triage, containment, notification, remediation and learning review.</a:t>
            </a:r>
            <a:endParaRPr lang="en-US" sz="12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INTEGRATION</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Import, export and interoperability</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platform must not trap schools or families inside See My Mind</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Export formats</a:t>
            </a:r>
            <a:endParaRPr lang="en-US" sz="1050" dirty="0"/>
          </a:p>
          <a:p>
            <a:pPr marL="0" indent="0">
              <a:buNone/>
            </a:pPr>
            <a:r>
              <a:rPr lang="en-US" sz="1050" dirty="0">
                <a:solidFill>
                  <a:srgbClr val="3D4F5A"/>
                </a:solidFill>
              </a:rPr>
              <a:t>CSV/XLSX for structured data; PDF evidence packs; JSON for structured transfer.</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Import routes</a:t>
            </a:r>
            <a:endParaRPr lang="en-US" sz="1050" dirty="0"/>
          </a:p>
          <a:p>
            <a:pPr marL="0" indent="0">
              <a:buNone/>
            </a:pPr>
            <a:r>
              <a:rPr lang="en-US" sz="1050" dirty="0">
                <a:solidFill>
                  <a:srgbClr val="3D4F5A"/>
                </a:solidFill>
              </a:rPr>
              <a:t>Foundation data import for schools, children, guardians, staff and assignments.</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Child record export</a:t>
            </a:r>
            <a:endParaRPr lang="en-US" sz="1050" dirty="0"/>
          </a:p>
          <a:p>
            <a:pPr marL="0" indent="0">
              <a:buNone/>
            </a:pPr>
            <a:r>
              <a:rPr lang="en-US" sz="1050" dirty="0">
                <a:solidFill>
                  <a:srgbClr val="3D4F5A"/>
                </a:solidFill>
              </a:rPr>
              <a:t>Timeline, observations, incident history, support strategies, EHCP evidence and documents.</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Migration readiness</a:t>
            </a:r>
            <a:endParaRPr lang="en-US" sz="1050" dirty="0"/>
          </a:p>
          <a:p>
            <a:pPr marL="0" indent="0">
              <a:buNone/>
            </a:pPr>
            <a:r>
              <a:rPr lang="en-US" sz="1050" dirty="0">
                <a:solidFill>
                  <a:srgbClr val="3D4F5A"/>
                </a:solidFill>
              </a:rPr>
              <a:t>Stable IDs, foreign key mapping, validation, duplicate detection and error handling.</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External applications</a:t>
            </a:r>
            <a:endParaRPr lang="en-US" sz="1050" dirty="0"/>
          </a:p>
          <a:p>
            <a:pPr marL="0" indent="0">
              <a:buNone/>
            </a:pPr>
            <a:r>
              <a:rPr lang="en-US" sz="1050" dirty="0">
                <a:solidFill>
                  <a:srgbClr val="3D4F5A"/>
                </a:solidFill>
              </a:rPr>
              <a:t>Future MIS/SIMS/Arbor/SEN systems via controlled APIs or scheduled import/export.</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Consent-aware exports</a:t>
            </a:r>
            <a:endParaRPr lang="en-US" sz="1050" dirty="0"/>
          </a:p>
          <a:p>
            <a:pPr marL="0" indent="0">
              <a:buNone/>
            </a:pPr>
            <a:r>
              <a:rPr lang="en-US" sz="1050" dirty="0">
                <a:solidFill>
                  <a:srgbClr val="3D4F5A"/>
                </a:solidFill>
              </a:rPr>
              <a:t>Exports must respect role, child, guardian relationship, visibility and restricted data rules.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4A"/>
          </a:solidFill>
          <a:ln w="12700">
            <a:solidFill>
              <a:srgbClr val="1A3A4A">
                <a:alpha val="0"/>
              </a:srgbClr>
            </a:solidFill>
            <a:prstDash val="solid"/>
          </a:ln>
        </p:spPr>
        <p:txBody>
          <a:bodyPr/>
          <a:lstStyle/>
          <a:p>
            <a:endParaRPr lang="en-GB"/>
          </a:p>
        </p:txBody>
      </p:sp>
      <p:sp>
        <p:nvSpPr>
          <p:cNvPr id="3" name="Text 1"/>
          <p:cNvSpPr/>
          <p:nvPr/>
        </p:nvSpPr>
        <p:spPr>
          <a:xfrm>
            <a:off x="566928" y="475488"/>
            <a:ext cx="731520" cy="320040"/>
          </a:xfrm>
          <a:prstGeom prst="rect">
            <a:avLst/>
          </a:prstGeom>
          <a:noFill/>
          <a:ln/>
        </p:spPr>
        <p:txBody>
          <a:bodyPr wrap="square" lIns="0" tIns="0" rIns="0" bIns="0" rtlCol="0" anchor="ctr"/>
          <a:lstStyle/>
          <a:p>
            <a:pPr marL="0" indent="0">
              <a:buNone/>
            </a:pPr>
            <a:r>
              <a:rPr lang="en-US" sz="1500" b="1" dirty="0">
                <a:solidFill>
                  <a:srgbClr val="9ECFC4"/>
                </a:solidFill>
              </a:rPr>
              <a:t>06</a:t>
            </a:r>
            <a:endParaRPr lang="en-US" sz="1500" dirty="0"/>
          </a:p>
        </p:txBody>
      </p:sp>
      <p:sp>
        <p:nvSpPr>
          <p:cNvPr id="4" name="Text 2"/>
          <p:cNvSpPr/>
          <p:nvPr/>
        </p:nvSpPr>
        <p:spPr>
          <a:xfrm>
            <a:off x="530352" y="2331720"/>
            <a:ext cx="7132320" cy="594360"/>
          </a:xfrm>
          <a:prstGeom prst="rect">
            <a:avLst/>
          </a:prstGeom>
          <a:noFill/>
          <a:ln/>
        </p:spPr>
        <p:txBody>
          <a:bodyPr wrap="square" lIns="0" tIns="0" rIns="0" bIns="0" rtlCol="0" anchor="ctr"/>
          <a:lstStyle/>
          <a:p>
            <a:pPr marL="0" indent="0">
              <a:buNone/>
            </a:pPr>
            <a:r>
              <a:rPr lang="en-US" sz="3100" b="1" dirty="0">
                <a:solidFill>
                  <a:srgbClr val="FFFFFF"/>
                </a:solidFill>
              </a:rPr>
              <a:t>06. Mobile, Operations and Delivery</a:t>
            </a:r>
            <a:endParaRPr lang="en-US" sz="3100" dirty="0"/>
          </a:p>
        </p:txBody>
      </p:sp>
      <p:sp>
        <p:nvSpPr>
          <p:cNvPr id="5" name="Text 3"/>
          <p:cNvSpPr/>
          <p:nvPr/>
        </p:nvSpPr>
        <p:spPr>
          <a:xfrm>
            <a:off x="566928" y="3063240"/>
            <a:ext cx="7498080" cy="384048"/>
          </a:xfrm>
          <a:prstGeom prst="rect">
            <a:avLst/>
          </a:prstGeom>
          <a:noFill/>
          <a:ln/>
        </p:spPr>
        <p:txBody>
          <a:bodyPr wrap="square" lIns="0" tIns="0" rIns="0" bIns="0" rtlCol="0" anchor="ctr"/>
          <a:lstStyle/>
          <a:p>
            <a:pPr marL="0" indent="0">
              <a:buNone/>
            </a:pPr>
            <a:r>
              <a:rPr lang="en-US" sz="1400" dirty="0">
                <a:solidFill>
                  <a:srgbClr val="C9E4DE"/>
                </a:solidFill>
              </a:rPr>
              <a:t>How the product gets from POC to demo to controlled pilot</a:t>
            </a:r>
            <a:endParaRPr lang="en-US" sz="1400" dirty="0"/>
          </a:p>
        </p:txBody>
      </p:sp>
      <p:sp>
        <p:nvSpPr>
          <p:cNvPr id="6" name="Text 4"/>
          <p:cNvSpPr/>
          <p:nvPr/>
        </p:nvSpPr>
        <p:spPr>
          <a:xfrm>
            <a:off x="9326880" y="6236208"/>
            <a:ext cx="2194560" cy="182880"/>
          </a:xfrm>
          <a:prstGeom prst="rect">
            <a:avLst/>
          </a:prstGeom>
          <a:noFill/>
          <a:ln/>
        </p:spPr>
        <p:txBody>
          <a:bodyPr wrap="square" lIns="0" tIns="0" rIns="0" bIns="0" rtlCol="0" anchor="ctr"/>
          <a:lstStyle/>
          <a:p>
            <a:pPr marL="0" indent="0" algn="r">
              <a:buNone/>
            </a:pPr>
            <a:r>
              <a:rPr lang="en-US" sz="800" b="1" dirty="0">
                <a:solidFill>
                  <a:srgbClr val="C9E4DE"/>
                </a:solidFill>
              </a:rPr>
              <a:t>SEE MY MIND</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MOBILE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Mobile app architecture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Mobile is the principal user channel, but should not fragment the backend</a:t>
            </a:r>
            <a:endParaRPr lang="en-US" sz="1100" dirty="0"/>
          </a:p>
        </p:txBody>
      </p:sp>
      <p:sp>
        <p:nvSpPr>
          <p:cNvPr id="9" name="Text 7"/>
          <p:cNvSpPr/>
          <p:nvPr/>
        </p:nvSpPr>
        <p:spPr>
          <a:xfrm>
            <a:off x="685800" y="1874520"/>
            <a:ext cx="2971800" cy="1143000"/>
          </a:xfrm>
          <a:prstGeom prst="roundRect">
            <a:avLst>
              <a:gd name="adj" fmla="val 6400"/>
            </a:avLst>
          </a:prstGeom>
          <a:solidFill>
            <a:srgbClr val="1A3A4A"/>
          </a:solidFill>
          <a:ln w="12700">
            <a:solidFill>
              <a:srgbClr val="1A3A4A"/>
            </a:solidFill>
          </a:ln>
        </p:spPr>
        <p:txBody>
          <a:bodyPr wrap="square" lIns="1270" tIns="1270" rIns="1270" bIns="1270" rtlCol="0" anchor="ctr">
            <a:normAutofit/>
          </a:bodyPr>
          <a:lstStyle/>
          <a:p>
            <a:pPr marL="0" indent="0" algn="ctr">
              <a:buNone/>
            </a:pPr>
            <a:r>
              <a:rPr lang="en-US" sz="1200" dirty="0">
                <a:solidFill>
                  <a:srgbClr val="FFFFFF"/>
                </a:solidFill>
              </a:rPr>
              <a:t>Shared Frappe Core</a:t>
            </a:r>
            <a:endParaRPr lang="en-US" sz="1200" dirty="0"/>
          </a:p>
          <a:p>
            <a:pPr marL="0" indent="0" algn="ctr">
              <a:buNone/>
            </a:pPr>
            <a:r>
              <a:rPr lang="en-US" sz="1200" dirty="0">
                <a:solidFill>
                  <a:srgbClr val="FFFFFF"/>
                </a:solidFill>
              </a:rPr>
              <a:t>Data model, workflow, permissions, audit, APIs</a:t>
            </a:r>
            <a:endParaRPr lang="en-US" sz="1200" dirty="0"/>
          </a:p>
        </p:txBody>
      </p:sp>
      <p:sp>
        <p:nvSpPr>
          <p:cNvPr id="10" name="Shape 8"/>
          <p:cNvSpPr/>
          <p:nvPr/>
        </p:nvSpPr>
        <p:spPr>
          <a:xfrm>
            <a:off x="3657600" y="2423160"/>
            <a:ext cx="914400" cy="0"/>
          </a:xfrm>
          <a:prstGeom prst="line">
            <a:avLst/>
          </a:prstGeom>
          <a:noFill/>
          <a:ln w="15240">
            <a:solidFill>
              <a:srgbClr val="627984"/>
            </a:solidFill>
            <a:prstDash val="solid"/>
            <a:tailEnd type="triangle"/>
          </a:ln>
        </p:spPr>
        <p:txBody>
          <a:bodyPr/>
          <a:lstStyle/>
          <a:p>
            <a:endParaRPr lang="en-GB"/>
          </a:p>
        </p:txBody>
      </p:sp>
      <p:sp>
        <p:nvSpPr>
          <p:cNvPr id="11" name="Text 9"/>
          <p:cNvSpPr/>
          <p:nvPr/>
        </p:nvSpPr>
        <p:spPr>
          <a:xfrm>
            <a:off x="4617720" y="1874520"/>
            <a:ext cx="2971800" cy="1143000"/>
          </a:xfrm>
          <a:prstGeom prst="roundRect">
            <a:avLst>
              <a:gd name="adj" fmla="val 6400"/>
            </a:avLst>
          </a:prstGeom>
          <a:solidFill>
            <a:srgbClr val="E8F4F1"/>
          </a:solidFill>
          <a:ln w="12700">
            <a:solidFill>
              <a:srgbClr val="9ECFC4"/>
            </a:solidFill>
          </a:ln>
        </p:spPr>
        <p:txBody>
          <a:bodyPr wrap="square" lIns="1270" tIns="1270" rIns="1270" bIns="1270" rtlCol="0" anchor="ctr">
            <a:normAutofit/>
          </a:bodyPr>
          <a:lstStyle/>
          <a:p>
            <a:pPr marL="0" indent="0" algn="ctr">
              <a:buNone/>
            </a:pPr>
            <a:r>
              <a:rPr lang="en-US" sz="1200" dirty="0">
                <a:solidFill>
                  <a:srgbClr val="1A3A4A"/>
                </a:solidFill>
              </a:rPr>
              <a:t>See My Mind UI</a:t>
            </a:r>
            <a:endParaRPr lang="en-US" sz="1200" dirty="0"/>
          </a:p>
          <a:p>
            <a:pPr marL="0" indent="0" algn="ctr">
              <a:buNone/>
            </a:pPr>
            <a:r>
              <a:rPr lang="en-US" sz="1200" dirty="0">
                <a:solidFill>
                  <a:srgbClr val="1A3A4A"/>
                </a:solidFill>
              </a:rPr>
              <a:t>Mobile-first web frontend, reusable components</a:t>
            </a:r>
            <a:endParaRPr lang="en-US" sz="1200" dirty="0"/>
          </a:p>
        </p:txBody>
      </p:sp>
      <p:sp>
        <p:nvSpPr>
          <p:cNvPr id="12" name="Shape 10"/>
          <p:cNvSpPr/>
          <p:nvPr/>
        </p:nvSpPr>
        <p:spPr>
          <a:xfrm>
            <a:off x="7589520" y="2423160"/>
            <a:ext cx="640080" cy="0"/>
          </a:xfrm>
          <a:prstGeom prst="line">
            <a:avLst/>
          </a:prstGeom>
          <a:noFill/>
          <a:ln w="15240">
            <a:solidFill>
              <a:srgbClr val="627984"/>
            </a:solidFill>
            <a:prstDash val="solid"/>
            <a:tailEnd type="triangle"/>
          </a:ln>
        </p:spPr>
        <p:txBody>
          <a:bodyPr/>
          <a:lstStyle/>
          <a:p>
            <a:endParaRPr lang="en-GB"/>
          </a:p>
        </p:txBody>
      </p:sp>
      <p:sp>
        <p:nvSpPr>
          <p:cNvPr id="13" name="Text 11"/>
          <p:cNvSpPr/>
          <p:nvPr/>
        </p:nvSpPr>
        <p:spPr>
          <a:xfrm>
            <a:off x="8412480" y="1664208"/>
            <a:ext cx="2971800" cy="1554480"/>
          </a:xfrm>
          <a:prstGeom prst="roundRect">
            <a:avLst>
              <a:gd name="adj" fmla="val 4706"/>
            </a:avLst>
          </a:prstGeom>
          <a:solidFill>
            <a:srgbClr val="FDF3DC"/>
          </a:solidFill>
          <a:ln w="12700">
            <a:solidFill>
              <a:srgbClr val="E8B84B"/>
            </a:solidFill>
          </a:ln>
        </p:spPr>
        <p:txBody>
          <a:bodyPr wrap="square" lIns="1270" tIns="1270" rIns="1270" bIns="1270" rtlCol="0" anchor="ctr">
            <a:normAutofit/>
          </a:bodyPr>
          <a:lstStyle/>
          <a:p>
            <a:pPr marL="0" indent="0" algn="ctr">
              <a:buNone/>
            </a:pPr>
            <a:r>
              <a:rPr lang="en-US" sz="1200" dirty="0">
                <a:solidFill>
                  <a:srgbClr val="1A3A4A"/>
                </a:solidFill>
              </a:rPr>
              <a:t>Mobile Shell</a:t>
            </a:r>
            <a:endParaRPr lang="en-US" sz="1200" dirty="0"/>
          </a:p>
          <a:p>
            <a:pPr marL="0" indent="0" algn="ctr">
              <a:buNone/>
            </a:pPr>
            <a:r>
              <a:rPr lang="en-US" sz="1200" dirty="0">
                <a:solidFill>
                  <a:srgbClr val="1A3A4A"/>
                </a:solidFill>
              </a:rPr>
              <a:t>Capacitor/native wrapper: push, secure storage, biometrics, app store packaging</a:t>
            </a:r>
            <a:endParaRPr lang="en-US" sz="1200" dirty="0"/>
          </a:p>
        </p:txBody>
      </p:sp>
      <p:sp>
        <p:nvSpPr>
          <p:cNvPr id="14" name="Text 12"/>
          <p:cNvSpPr/>
          <p:nvPr/>
        </p:nvSpPr>
        <p:spPr>
          <a:xfrm>
            <a:off x="868680" y="4114800"/>
            <a:ext cx="10378440" cy="694944"/>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Recommended sequence: first prove the mobile-first browser/PWA flows; then wrap/package for Android and iOS once UX, permissions and workflow are stable.</a:t>
            </a:r>
            <a:endParaRPr lang="en-US" sz="1050" dirty="0"/>
          </a:p>
        </p:txBody>
      </p:sp>
      <p:sp>
        <p:nvSpPr>
          <p:cNvPr id="15" name="Text 13"/>
          <p:cNvSpPr/>
          <p:nvPr/>
        </p:nvSpPr>
        <p:spPr>
          <a:xfrm>
            <a:off x="868680" y="4983480"/>
            <a:ext cx="10378440" cy="749808"/>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Mobile-specific features to plan: push notifications, offline/draft capture, secure local storage, file/photo upload, biometrics, device loss policy and app-store release process.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MOBILE</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UI/API contract</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 UI should call explicit application APIs, not directly manipulate unrestricted records</a:t>
            </a:r>
            <a:endParaRPr lang="en-US" sz="1100" dirty="0"/>
          </a:p>
        </p:txBody>
      </p:sp>
      <p:sp>
        <p:nvSpPr>
          <p:cNvPr id="9" name="Text 7"/>
          <p:cNvSpPr/>
          <p:nvPr/>
        </p:nvSpPr>
        <p:spPr>
          <a:xfrm>
            <a:off x="777240" y="1097280"/>
            <a:ext cx="233172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Dashboard API</a:t>
            </a:r>
            <a:endParaRPr lang="en-US" sz="1100" dirty="0"/>
          </a:p>
        </p:txBody>
      </p:sp>
      <p:sp>
        <p:nvSpPr>
          <p:cNvPr id="10" name="Text 8"/>
          <p:cNvSpPr/>
          <p:nvPr/>
        </p:nvSpPr>
        <p:spPr>
          <a:xfrm>
            <a:off x="3291840" y="1170432"/>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Returns role-specific counts, alerts, assigned children and recent timeline events.</a:t>
            </a:r>
            <a:endParaRPr lang="en-US" sz="1100" dirty="0"/>
          </a:p>
        </p:txBody>
      </p:sp>
      <p:sp>
        <p:nvSpPr>
          <p:cNvPr id="11" name="Text 9"/>
          <p:cNvSpPr/>
          <p:nvPr/>
        </p:nvSpPr>
        <p:spPr>
          <a:xfrm>
            <a:off x="777240" y="1810512"/>
            <a:ext cx="233172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Child profile API</a:t>
            </a:r>
            <a:endParaRPr lang="en-US" sz="1100" dirty="0"/>
          </a:p>
        </p:txBody>
      </p:sp>
      <p:sp>
        <p:nvSpPr>
          <p:cNvPr id="12" name="Text 10"/>
          <p:cNvSpPr/>
          <p:nvPr/>
        </p:nvSpPr>
        <p:spPr>
          <a:xfrm>
            <a:off x="3291840" y="1883664"/>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Returns child summary, guardians, staff, timeline and current open concerns.</a:t>
            </a:r>
            <a:endParaRPr lang="en-US" sz="1100" dirty="0"/>
          </a:p>
        </p:txBody>
      </p:sp>
      <p:sp>
        <p:nvSpPr>
          <p:cNvPr id="13" name="Text 11"/>
          <p:cNvSpPr/>
          <p:nvPr/>
        </p:nvSpPr>
        <p:spPr>
          <a:xfrm>
            <a:off x="777240" y="2523744"/>
            <a:ext cx="233172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Create observation API</a:t>
            </a:r>
            <a:endParaRPr lang="en-US" sz="1100" dirty="0"/>
          </a:p>
        </p:txBody>
      </p:sp>
      <p:sp>
        <p:nvSpPr>
          <p:cNvPr id="14" name="Text 12"/>
          <p:cNvSpPr/>
          <p:nvPr/>
        </p:nvSpPr>
        <p:spPr>
          <a:xfrm>
            <a:off x="3291840" y="2596896"/>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Creates Child Event + Observation in one transaction.</a:t>
            </a:r>
            <a:endParaRPr lang="en-US" sz="1100" dirty="0"/>
          </a:p>
        </p:txBody>
      </p:sp>
      <p:sp>
        <p:nvSpPr>
          <p:cNvPr id="15" name="Text 13"/>
          <p:cNvSpPr/>
          <p:nvPr/>
        </p:nvSpPr>
        <p:spPr>
          <a:xfrm>
            <a:off x="777240" y="3236976"/>
            <a:ext cx="233172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Handover API</a:t>
            </a:r>
            <a:endParaRPr lang="en-US" sz="1100" dirty="0"/>
          </a:p>
        </p:txBody>
      </p:sp>
      <p:sp>
        <p:nvSpPr>
          <p:cNvPr id="16" name="Text 14"/>
          <p:cNvSpPr/>
          <p:nvPr/>
        </p:nvSpPr>
        <p:spPr>
          <a:xfrm>
            <a:off x="3291840" y="3310128"/>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Creates morning/end-of-day handover and triggers notifications.</a:t>
            </a:r>
            <a:endParaRPr lang="en-US" sz="1100" dirty="0"/>
          </a:p>
        </p:txBody>
      </p:sp>
      <p:sp>
        <p:nvSpPr>
          <p:cNvPr id="17" name="Text 15"/>
          <p:cNvSpPr/>
          <p:nvPr/>
        </p:nvSpPr>
        <p:spPr>
          <a:xfrm>
            <a:off x="777240" y="3950208"/>
            <a:ext cx="2331720" cy="457200"/>
          </a:xfrm>
          <a:prstGeom prst="roundRect">
            <a:avLst>
              <a:gd name="adj" fmla="val 16000"/>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Export API</a:t>
            </a:r>
            <a:endParaRPr lang="en-US" sz="1100" dirty="0"/>
          </a:p>
        </p:txBody>
      </p:sp>
      <p:sp>
        <p:nvSpPr>
          <p:cNvPr id="18" name="Text 16"/>
          <p:cNvSpPr/>
          <p:nvPr/>
        </p:nvSpPr>
        <p:spPr>
          <a:xfrm>
            <a:off x="3291840" y="4023360"/>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Generates permission-filtered child or school report packages.</a:t>
            </a:r>
            <a:endParaRPr lang="en-US" sz="1100" dirty="0"/>
          </a:p>
        </p:txBody>
      </p:sp>
      <p:sp>
        <p:nvSpPr>
          <p:cNvPr id="19" name="Text 17"/>
          <p:cNvSpPr/>
          <p:nvPr/>
        </p:nvSpPr>
        <p:spPr>
          <a:xfrm>
            <a:off x="777240" y="4663440"/>
            <a:ext cx="2331720" cy="457200"/>
          </a:xfrm>
          <a:prstGeom prst="roundRect">
            <a:avLst>
              <a:gd name="adj" fmla="val 16000"/>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100" dirty="0">
                <a:solidFill>
                  <a:srgbClr val="1A3A4A"/>
                </a:solidFill>
              </a:rPr>
              <a:t>AI insight API</a:t>
            </a:r>
            <a:endParaRPr lang="en-US" sz="1100" dirty="0"/>
          </a:p>
        </p:txBody>
      </p:sp>
      <p:sp>
        <p:nvSpPr>
          <p:cNvPr id="20" name="Text 18"/>
          <p:cNvSpPr/>
          <p:nvPr/>
        </p:nvSpPr>
        <p:spPr>
          <a:xfrm>
            <a:off x="3291840" y="4736592"/>
            <a:ext cx="7909560" cy="292608"/>
          </a:xfrm>
          <a:prstGeom prst="rect">
            <a:avLst/>
          </a:prstGeom>
          <a:noFill/>
          <a:ln/>
        </p:spPr>
        <p:txBody>
          <a:bodyPr wrap="square" lIns="254" tIns="254" rIns="254" bIns="254" rtlCol="0" anchor="t">
            <a:normAutofit/>
          </a:bodyPr>
          <a:lstStyle/>
          <a:p>
            <a:pPr marL="0" indent="0" algn="l">
              <a:buNone/>
            </a:pPr>
            <a:r>
              <a:rPr lang="en-US" sz="1100" dirty="0">
                <a:solidFill>
                  <a:srgbClr val="3D4F5A"/>
                </a:solidFill>
              </a:rPr>
              <a:t>Requests/retrieves advisory output with evidence links and review status.</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OPERATIONS</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Operational model</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A production system needs support, release and data operations as much as code</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Support</a:t>
            </a:r>
            <a:endParaRPr lang="en-US" sz="1050" dirty="0"/>
          </a:p>
          <a:p>
            <a:pPr marL="0" indent="0">
              <a:buNone/>
            </a:pPr>
            <a:r>
              <a:rPr lang="en-US" sz="1050" dirty="0">
                <a:solidFill>
                  <a:srgbClr val="3D4F5A"/>
                </a:solidFill>
              </a:rPr>
              <a:t>Login issues, user setup, data corrections, school queries, incident triage.</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Release management</a:t>
            </a:r>
            <a:endParaRPr lang="en-US" sz="1050" dirty="0"/>
          </a:p>
          <a:p>
            <a:pPr marL="0" indent="0">
              <a:buNone/>
            </a:pPr>
            <a:r>
              <a:rPr lang="en-US" sz="1050" dirty="0">
                <a:solidFill>
                  <a:srgbClr val="3D4F5A"/>
                </a:solidFill>
              </a:rPr>
              <a:t>DEV -&gt; UAT -&gt; PROD with release notes, rollback path and migration checks.</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Backup / restore</a:t>
            </a:r>
            <a:endParaRPr lang="en-US" sz="1050" dirty="0"/>
          </a:p>
          <a:p>
            <a:pPr marL="0" indent="0">
              <a:buNone/>
            </a:pPr>
            <a:r>
              <a:rPr lang="en-US" sz="1050" dirty="0">
                <a:solidFill>
                  <a:srgbClr val="3D4F5A"/>
                </a:solidFill>
              </a:rPr>
              <a:t>Scheduled backups, restore tests, tenant-level recovery and evidence of success.</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Monitoring</a:t>
            </a:r>
            <a:endParaRPr lang="en-US" sz="1050" dirty="0"/>
          </a:p>
          <a:p>
            <a:pPr marL="0" indent="0">
              <a:buNone/>
            </a:pPr>
            <a:r>
              <a:rPr lang="en-US" sz="1050" dirty="0">
                <a:solidFill>
                  <a:srgbClr val="3D4F5A"/>
                </a:solidFill>
              </a:rPr>
              <a:t>Uptime, errors, failed jobs, API failures, storage, queue depth, email/push delivery.</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Security operations</a:t>
            </a:r>
            <a:endParaRPr lang="en-US" sz="1050" dirty="0"/>
          </a:p>
          <a:p>
            <a:pPr marL="0" indent="0">
              <a:buNone/>
            </a:pPr>
            <a:r>
              <a:rPr lang="en-US" sz="1050" dirty="0">
                <a:solidFill>
                  <a:srgbClr val="3D4F5A"/>
                </a:solidFill>
              </a:rPr>
              <a:t>Patch cadence, vulnerability scans, pen-test remediation, access review.</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Data operations</a:t>
            </a:r>
            <a:endParaRPr lang="en-US" sz="1050" dirty="0"/>
          </a:p>
          <a:p>
            <a:pPr marL="0" indent="0">
              <a:buNone/>
            </a:pPr>
            <a:r>
              <a:rPr lang="en-US" sz="1050" dirty="0">
                <a:solidFill>
                  <a:srgbClr val="3D4F5A"/>
                </a:solidFill>
              </a:rPr>
              <a:t>Imports, exports, retention, deletion, archive, SAR support and consent changes.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OPERATIONS</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Go-live gates for real data</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Real child/SEND data requires objective evidence, not confidence alone</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Privacy</a:t>
            </a:r>
            <a:endParaRPr lang="en-US" sz="1050" dirty="0"/>
          </a:p>
          <a:p>
            <a:pPr marL="0" indent="0">
              <a:buNone/>
            </a:pPr>
            <a:r>
              <a:rPr lang="en-US" sz="1050" dirty="0">
                <a:solidFill>
                  <a:srgbClr val="3D4F5A"/>
                </a:solidFill>
              </a:rPr>
              <a:t>DPIA, lawful basis, consent model, retention/deletion, privacy notices.</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Security</a:t>
            </a:r>
            <a:endParaRPr lang="en-US" sz="1050" dirty="0"/>
          </a:p>
          <a:p>
            <a:pPr marL="0" indent="0">
              <a:buNone/>
            </a:pPr>
            <a:r>
              <a:rPr lang="en-US" sz="1050" dirty="0">
                <a:solidFill>
                  <a:srgbClr val="3D4F5A"/>
                </a:solidFill>
              </a:rPr>
              <a:t>2FA, HTTPS, RBAC, record access tests, pen-test, vulnerability remediation.</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Tenancy</a:t>
            </a:r>
            <a:endParaRPr lang="en-US" sz="1050" dirty="0"/>
          </a:p>
          <a:p>
            <a:pPr marL="0" indent="0">
              <a:buNone/>
            </a:pPr>
            <a:r>
              <a:rPr lang="en-US" sz="1050" dirty="0">
                <a:solidFill>
                  <a:srgbClr val="3D4F5A"/>
                </a:solidFill>
              </a:rPr>
              <a:t>Cross-school access tests, support access controls, backup isolation.</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Data</a:t>
            </a:r>
            <a:endParaRPr lang="en-US" sz="1050" dirty="0"/>
          </a:p>
          <a:p>
            <a:pPr marL="0" indent="0">
              <a:buNone/>
            </a:pPr>
            <a:r>
              <a:rPr lang="en-US" sz="1050" dirty="0">
                <a:solidFill>
                  <a:srgbClr val="3D4F5A"/>
                </a:solidFill>
              </a:rPr>
              <a:t>Import templates, export packs, data dictionary, data quality checks.</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Operations</a:t>
            </a:r>
            <a:endParaRPr lang="en-US" sz="1050" dirty="0"/>
          </a:p>
          <a:p>
            <a:pPr marL="0" indent="0">
              <a:buNone/>
            </a:pPr>
            <a:r>
              <a:rPr lang="en-US" sz="1050" dirty="0">
                <a:solidFill>
                  <a:srgbClr val="3D4F5A"/>
                </a:solidFill>
              </a:rPr>
              <a:t>Monitoring, backups, restore test, incident process, support model.</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UAT</a:t>
            </a:r>
            <a:endParaRPr lang="en-US" sz="1050" dirty="0"/>
          </a:p>
          <a:p>
            <a:pPr marL="0" indent="0">
              <a:buNone/>
            </a:pPr>
            <a:r>
              <a:rPr lang="en-US" sz="1050" dirty="0">
                <a:solidFill>
                  <a:srgbClr val="3D4F5A"/>
                </a:solidFill>
              </a:rPr>
              <a:t>Parent, teacher, TA, SENCO and admin scenarios passed with synthetic data.</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DELIVERY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Recommended MVP build sequence</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Build a thin but complete vertical slice before broadening the product</a:t>
            </a:r>
            <a:endParaRPr lang="en-US" sz="1100" dirty="0"/>
          </a:p>
        </p:txBody>
      </p:sp>
      <p:sp>
        <p:nvSpPr>
          <p:cNvPr id="9" name="Text 7"/>
          <p:cNvSpPr/>
          <p:nvPr/>
        </p:nvSpPr>
        <p:spPr>
          <a:xfrm>
            <a:off x="685800" y="1170432"/>
            <a:ext cx="2194560" cy="393192"/>
          </a:xfrm>
          <a:prstGeom prst="roundRect">
            <a:avLst>
              <a:gd name="adj" fmla="val 18605"/>
            </a:avLst>
          </a:prstGeom>
          <a:solidFill>
            <a:srgbClr val="E8F4F1"/>
          </a:solidFill>
          <a:ln w="12700">
            <a:solidFill>
              <a:srgbClr val="9ECFC4"/>
            </a:solidFill>
          </a:ln>
        </p:spPr>
        <p:txBody>
          <a:bodyPr wrap="square" lIns="1270" tIns="1270" rIns="1270" bIns="1270" rtlCol="0" anchor="ctr">
            <a:normAutofit/>
          </a:bodyPr>
          <a:lstStyle/>
          <a:p>
            <a:pPr marL="0" indent="0" algn="l">
              <a:buNone/>
            </a:pPr>
            <a:r>
              <a:rPr lang="en-US" sz="1020" dirty="0">
                <a:solidFill>
                  <a:srgbClr val="1A3A4A"/>
                </a:solidFill>
              </a:rPr>
              <a:t>1. Foundation</a:t>
            </a:r>
            <a:endParaRPr lang="en-US" sz="1020" dirty="0"/>
          </a:p>
        </p:txBody>
      </p:sp>
      <p:sp>
        <p:nvSpPr>
          <p:cNvPr id="10" name="Text 8"/>
          <p:cNvSpPr/>
          <p:nvPr/>
        </p:nvSpPr>
        <p:spPr>
          <a:xfrm>
            <a:off x="3063240" y="1225296"/>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School, child, guardian, staff, assignments, entitlement basics.</a:t>
            </a:r>
            <a:endParaRPr lang="en-US" sz="1060" dirty="0"/>
          </a:p>
        </p:txBody>
      </p:sp>
      <p:sp>
        <p:nvSpPr>
          <p:cNvPr id="11" name="Text 9"/>
          <p:cNvSpPr/>
          <p:nvPr/>
        </p:nvSpPr>
        <p:spPr>
          <a:xfrm>
            <a:off x="685800" y="1737360"/>
            <a:ext cx="2194560" cy="393192"/>
          </a:xfrm>
          <a:prstGeom prst="roundRect">
            <a:avLst>
              <a:gd name="adj" fmla="val 18605"/>
            </a:avLst>
          </a:prstGeom>
          <a:solidFill>
            <a:srgbClr val="E8F4F1"/>
          </a:solidFill>
          <a:ln w="12700">
            <a:solidFill>
              <a:srgbClr val="9ECFC4"/>
            </a:solidFill>
          </a:ln>
        </p:spPr>
        <p:txBody>
          <a:bodyPr wrap="square" lIns="1270" tIns="1270" rIns="1270" bIns="1270" rtlCol="0" anchor="ctr">
            <a:normAutofit/>
          </a:bodyPr>
          <a:lstStyle/>
          <a:p>
            <a:pPr marL="0" indent="0" algn="l">
              <a:buNone/>
            </a:pPr>
            <a:r>
              <a:rPr lang="en-US" sz="1020" dirty="0">
                <a:solidFill>
                  <a:srgbClr val="1A3A4A"/>
                </a:solidFill>
              </a:rPr>
              <a:t>2. Timeline</a:t>
            </a:r>
            <a:endParaRPr lang="en-US" sz="1020" dirty="0"/>
          </a:p>
        </p:txBody>
      </p:sp>
      <p:sp>
        <p:nvSpPr>
          <p:cNvPr id="12" name="Text 10"/>
          <p:cNvSpPr/>
          <p:nvPr/>
        </p:nvSpPr>
        <p:spPr>
          <a:xfrm>
            <a:off x="3063240" y="1792224"/>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Child Event backbone, observation detail, profile page.</a:t>
            </a:r>
            <a:endParaRPr lang="en-US" sz="1060" dirty="0"/>
          </a:p>
        </p:txBody>
      </p:sp>
      <p:sp>
        <p:nvSpPr>
          <p:cNvPr id="13" name="Text 11"/>
          <p:cNvSpPr/>
          <p:nvPr/>
        </p:nvSpPr>
        <p:spPr>
          <a:xfrm>
            <a:off x="685800" y="2304288"/>
            <a:ext cx="2194560" cy="393192"/>
          </a:xfrm>
          <a:prstGeom prst="roundRect">
            <a:avLst>
              <a:gd name="adj" fmla="val 18605"/>
            </a:avLst>
          </a:prstGeom>
          <a:solidFill>
            <a:srgbClr val="E8F4F1"/>
          </a:solidFill>
          <a:ln w="12700">
            <a:solidFill>
              <a:srgbClr val="9ECFC4"/>
            </a:solidFill>
          </a:ln>
        </p:spPr>
        <p:txBody>
          <a:bodyPr wrap="square" lIns="1270" tIns="1270" rIns="1270" bIns="1270" rtlCol="0" anchor="ctr">
            <a:normAutofit/>
          </a:bodyPr>
          <a:lstStyle/>
          <a:p>
            <a:pPr marL="0" indent="0" algn="l">
              <a:buNone/>
            </a:pPr>
            <a:r>
              <a:rPr lang="en-US" sz="1020" dirty="0">
                <a:solidFill>
                  <a:srgbClr val="1A3A4A"/>
                </a:solidFill>
              </a:rPr>
              <a:t>3. Daily flow</a:t>
            </a:r>
            <a:endParaRPr lang="en-US" sz="1020" dirty="0"/>
          </a:p>
        </p:txBody>
      </p:sp>
      <p:sp>
        <p:nvSpPr>
          <p:cNvPr id="14" name="Text 12"/>
          <p:cNvSpPr/>
          <p:nvPr/>
        </p:nvSpPr>
        <p:spPr>
          <a:xfrm>
            <a:off x="3063240" y="2359152"/>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Morning handover, teacher observation, end-of-day summary.</a:t>
            </a:r>
            <a:endParaRPr lang="en-US" sz="1060" dirty="0"/>
          </a:p>
        </p:txBody>
      </p:sp>
      <p:sp>
        <p:nvSpPr>
          <p:cNvPr id="15" name="Text 13"/>
          <p:cNvSpPr/>
          <p:nvPr/>
        </p:nvSpPr>
        <p:spPr>
          <a:xfrm>
            <a:off x="685800" y="2871216"/>
            <a:ext cx="2194560" cy="393192"/>
          </a:xfrm>
          <a:prstGeom prst="roundRect">
            <a:avLst>
              <a:gd name="adj" fmla="val 18605"/>
            </a:avLst>
          </a:prstGeom>
          <a:solidFill>
            <a:srgbClr val="FDF3DC"/>
          </a:solidFill>
          <a:ln w="12700">
            <a:solidFill>
              <a:srgbClr val="E8B84B"/>
            </a:solidFill>
          </a:ln>
        </p:spPr>
        <p:txBody>
          <a:bodyPr wrap="square" lIns="1270" tIns="1270" rIns="1270" bIns="1270" rtlCol="0" anchor="ctr">
            <a:normAutofit/>
          </a:bodyPr>
          <a:lstStyle/>
          <a:p>
            <a:pPr marL="0" indent="0" algn="l">
              <a:buNone/>
            </a:pPr>
            <a:r>
              <a:rPr lang="en-US" sz="1020" dirty="0">
                <a:solidFill>
                  <a:srgbClr val="1A3A4A"/>
                </a:solidFill>
              </a:rPr>
              <a:t>4. Workflow</a:t>
            </a:r>
            <a:endParaRPr lang="en-US" sz="1020" dirty="0"/>
          </a:p>
        </p:txBody>
      </p:sp>
      <p:sp>
        <p:nvSpPr>
          <p:cNvPr id="16" name="Text 14"/>
          <p:cNvSpPr/>
          <p:nvPr/>
        </p:nvSpPr>
        <p:spPr>
          <a:xfrm>
            <a:off x="3063240" y="2926080"/>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Notifications, concerns, follow-up actions, SENCO review trigger.</a:t>
            </a:r>
            <a:endParaRPr lang="en-US" sz="1060" dirty="0"/>
          </a:p>
        </p:txBody>
      </p:sp>
      <p:sp>
        <p:nvSpPr>
          <p:cNvPr id="17" name="Text 15"/>
          <p:cNvSpPr/>
          <p:nvPr/>
        </p:nvSpPr>
        <p:spPr>
          <a:xfrm>
            <a:off x="685800" y="3438144"/>
            <a:ext cx="2194560" cy="393192"/>
          </a:xfrm>
          <a:prstGeom prst="roundRect">
            <a:avLst>
              <a:gd name="adj" fmla="val 18605"/>
            </a:avLst>
          </a:prstGeom>
          <a:solidFill>
            <a:srgbClr val="FDF3DC"/>
          </a:solidFill>
          <a:ln w="12700">
            <a:solidFill>
              <a:srgbClr val="E8B84B"/>
            </a:solidFill>
          </a:ln>
        </p:spPr>
        <p:txBody>
          <a:bodyPr wrap="square" lIns="1270" tIns="1270" rIns="1270" bIns="1270" rtlCol="0" anchor="ctr">
            <a:normAutofit/>
          </a:bodyPr>
          <a:lstStyle/>
          <a:p>
            <a:pPr marL="0" indent="0" algn="l">
              <a:buNone/>
            </a:pPr>
            <a:r>
              <a:rPr lang="en-US" sz="1020" dirty="0">
                <a:solidFill>
                  <a:srgbClr val="1A3A4A"/>
                </a:solidFill>
              </a:rPr>
              <a:t>5. Dashboards</a:t>
            </a:r>
            <a:endParaRPr lang="en-US" sz="1020" dirty="0"/>
          </a:p>
        </p:txBody>
      </p:sp>
      <p:sp>
        <p:nvSpPr>
          <p:cNvPr id="18" name="Text 16"/>
          <p:cNvSpPr/>
          <p:nvPr/>
        </p:nvSpPr>
        <p:spPr>
          <a:xfrm>
            <a:off x="3063240" y="3493008"/>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Parent, teacher, TA, SENCO views using real data.</a:t>
            </a:r>
            <a:endParaRPr lang="en-US" sz="1060" dirty="0"/>
          </a:p>
        </p:txBody>
      </p:sp>
      <p:sp>
        <p:nvSpPr>
          <p:cNvPr id="19" name="Text 17"/>
          <p:cNvSpPr/>
          <p:nvPr/>
        </p:nvSpPr>
        <p:spPr>
          <a:xfrm>
            <a:off x="685800" y="4005072"/>
            <a:ext cx="2194560" cy="393192"/>
          </a:xfrm>
          <a:prstGeom prst="roundRect">
            <a:avLst>
              <a:gd name="adj" fmla="val 18605"/>
            </a:avLst>
          </a:prstGeom>
          <a:solidFill>
            <a:srgbClr val="FDF3DC"/>
          </a:solidFill>
          <a:ln w="12700">
            <a:solidFill>
              <a:srgbClr val="E8B84B"/>
            </a:solidFill>
          </a:ln>
        </p:spPr>
        <p:txBody>
          <a:bodyPr wrap="square" lIns="1270" tIns="1270" rIns="1270" bIns="1270" rtlCol="0" anchor="ctr">
            <a:normAutofit/>
          </a:bodyPr>
          <a:lstStyle/>
          <a:p>
            <a:pPr marL="0" indent="0" algn="l">
              <a:buNone/>
            </a:pPr>
            <a:r>
              <a:rPr lang="en-US" sz="1020" dirty="0">
                <a:solidFill>
                  <a:srgbClr val="1A3A4A"/>
                </a:solidFill>
              </a:rPr>
              <a:t>6. Assurance</a:t>
            </a:r>
            <a:endParaRPr lang="en-US" sz="1020" dirty="0"/>
          </a:p>
        </p:txBody>
      </p:sp>
      <p:sp>
        <p:nvSpPr>
          <p:cNvPr id="20" name="Text 18"/>
          <p:cNvSpPr/>
          <p:nvPr/>
        </p:nvSpPr>
        <p:spPr>
          <a:xfrm>
            <a:off x="3063240" y="4059936"/>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UAT, privacy controls, pen test, export/import, backup/restore.</a:t>
            </a:r>
            <a:endParaRPr lang="en-US" sz="1060" dirty="0"/>
          </a:p>
        </p:txBody>
      </p:sp>
      <p:sp>
        <p:nvSpPr>
          <p:cNvPr id="21" name="Text 19"/>
          <p:cNvSpPr/>
          <p:nvPr/>
        </p:nvSpPr>
        <p:spPr>
          <a:xfrm>
            <a:off x="685800" y="4572000"/>
            <a:ext cx="2194560" cy="393192"/>
          </a:xfrm>
          <a:prstGeom prst="roundRect">
            <a:avLst>
              <a:gd name="adj" fmla="val 18605"/>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7. Mobile packaging</a:t>
            </a:r>
            <a:endParaRPr lang="en-US" sz="1020" dirty="0"/>
          </a:p>
        </p:txBody>
      </p:sp>
      <p:sp>
        <p:nvSpPr>
          <p:cNvPr id="22" name="Text 20"/>
          <p:cNvSpPr/>
          <p:nvPr/>
        </p:nvSpPr>
        <p:spPr>
          <a:xfrm>
            <a:off x="3063240" y="4626864"/>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PWA first, then app-store packaging when flows are stable.</a:t>
            </a:r>
            <a:endParaRPr lang="en-US" sz="1060" dirty="0"/>
          </a:p>
        </p:txBody>
      </p:sp>
      <p:sp>
        <p:nvSpPr>
          <p:cNvPr id="23" name="Text 21"/>
          <p:cNvSpPr/>
          <p:nvPr/>
        </p:nvSpPr>
        <p:spPr>
          <a:xfrm>
            <a:off x="685800" y="5138928"/>
            <a:ext cx="2194560" cy="393192"/>
          </a:xfrm>
          <a:prstGeom prst="roundRect">
            <a:avLst>
              <a:gd name="adj" fmla="val 18605"/>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20" dirty="0">
                <a:solidFill>
                  <a:srgbClr val="1A3A4A"/>
                </a:solidFill>
              </a:rPr>
              <a:t>8. AI/RAG pilot</a:t>
            </a:r>
            <a:endParaRPr lang="en-US" sz="1020" dirty="0"/>
          </a:p>
        </p:txBody>
      </p:sp>
      <p:sp>
        <p:nvSpPr>
          <p:cNvPr id="24" name="Text 22"/>
          <p:cNvSpPr/>
          <p:nvPr/>
        </p:nvSpPr>
        <p:spPr>
          <a:xfrm>
            <a:off x="3063240" y="5193792"/>
            <a:ext cx="8183880" cy="283464"/>
          </a:xfrm>
          <a:prstGeom prst="rect">
            <a:avLst/>
          </a:prstGeom>
          <a:noFill/>
          <a:ln/>
        </p:spPr>
        <p:txBody>
          <a:bodyPr wrap="square" lIns="254" tIns="254" rIns="254" bIns="254" rtlCol="0" anchor="t">
            <a:normAutofit/>
          </a:bodyPr>
          <a:lstStyle/>
          <a:p>
            <a:pPr marL="0" indent="0" algn="l">
              <a:buNone/>
            </a:pPr>
            <a:r>
              <a:rPr lang="en-US" sz="1060" dirty="0">
                <a:solidFill>
                  <a:srgbClr val="3D4F5A"/>
                </a:solidFill>
              </a:rPr>
              <a:t>Advisory summaries and evidence retrieval after data controls mature.</a:t>
            </a:r>
            <a:endParaRPr lang="en-US" sz="10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DELIVERY</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Suggested workstreams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Give volunteers and reviewers bounded areas without creating competing architectures</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Product / UX</a:t>
            </a:r>
            <a:endParaRPr lang="en-US" sz="1050" dirty="0"/>
          </a:p>
          <a:p>
            <a:pPr marL="0" indent="0">
              <a:buNone/>
            </a:pPr>
            <a:r>
              <a:rPr lang="en-US" sz="1050" dirty="0">
                <a:solidFill>
                  <a:srgbClr val="3D4F5A"/>
                </a:solidFill>
              </a:rPr>
              <a:t>Translate mock-up into role journeys, mobile screens, content patterns and UAT scripts.</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Frappe Core</a:t>
            </a:r>
            <a:endParaRPr lang="en-US" sz="1050" dirty="0"/>
          </a:p>
          <a:p>
            <a:pPr marL="0" indent="0">
              <a:buNone/>
            </a:pPr>
            <a:r>
              <a:rPr lang="en-US" sz="1050" dirty="0">
                <a:solidFill>
                  <a:srgbClr val="3D4F5A"/>
                </a:solidFill>
              </a:rPr>
              <a:t>DocTypes, controllers, permissions, workflow, APIs and reports.</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Data Model</a:t>
            </a:r>
            <a:endParaRPr lang="en-US" sz="1050" dirty="0"/>
          </a:p>
          <a:p>
            <a:pPr marL="0" indent="0">
              <a:buNone/>
            </a:pPr>
            <a:r>
              <a:rPr lang="en-US" sz="1050" dirty="0">
                <a:solidFill>
                  <a:srgbClr val="3D4F5A"/>
                </a:solidFill>
              </a:rPr>
              <a:t>Schema dictionary, field classifications, import/export templates and data governance.</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Security / Privacy</a:t>
            </a:r>
            <a:endParaRPr lang="en-US" sz="1050" dirty="0"/>
          </a:p>
          <a:p>
            <a:pPr marL="0" indent="0">
              <a:buNone/>
            </a:pPr>
            <a:r>
              <a:rPr lang="en-US" sz="1050" dirty="0">
                <a:solidFill>
                  <a:srgbClr val="3D4F5A"/>
                </a:solidFill>
              </a:rPr>
              <a:t>DPIA, 2FA, RBAC tests, tenancy test pack, audit, pen-test coordination.</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AI/RAG</a:t>
            </a:r>
            <a:endParaRPr lang="en-US" sz="1050" dirty="0"/>
          </a:p>
          <a:p>
            <a:pPr marL="0" indent="0">
              <a:buNone/>
            </a:pPr>
            <a:r>
              <a:rPr lang="en-US" sz="1050" dirty="0">
                <a:solidFill>
                  <a:srgbClr val="3D4F5A"/>
                </a:solidFill>
              </a:rPr>
              <a:t>RAG scope, source ingestion, prompt classes, AI evidence model and guardrails.</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Demo / School readiness</a:t>
            </a:r>
            <a:endParaRPr lang="en-US" sz="1050" dirty="0"/>
          </a:p>
          <a:p>
            <a:pPr marL="0" indent="0">
              <a:buNone/>
            </a:pPr>
            <a:r>
              <a:rPr lang="en-US" sz="1050" dirty="0">
                <a:solidFill>
                  <a:srgbClr val="3D4F5A"/>
                </a:solidFill>
              </a:rPr>
              <a:t>Demo data, storyboards, clickable flows, scripted school demo scenarios.</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NEXT STEPS</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Open architecture decisions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These need explicit decisions before a real pilot</a:t>
            </a:r>
            <a:endParaRPr lang="en-US" sz="1100" dirty="0"/>
          </a:p>
        </p:txBody>
      </p:sp>
      <p:sp>
        <p:nvSpPr>
          <p:cNvPr id="9" name="Text 7"/>
          <p:cNvSpPr/>
          <p:nvPr/>
        </p:nvSpPr>
        <p:spPr>
          <a:xfrm>
            <a:off x="685800" y="1143000"/>
            <a:ext cx="10515600" cy="4343400"/>
          </a:xfrm>
          <a:prstGeom prst="rect">
            <a:avLst/>
          </a:prstGeom>
          <a:noFill/>
          <a:ln/>
        </p:spPr>
        <p:txBody>
          <a:bodyPr wrap="square" lIns="508" tIns="508" rIns="508" bIns="508" rtlCol="0" anchor="ctr">
            <a:normAutofit/>
          </a:bodyPr>
          <a:lstStyle/>
          <a:p>
            <a:r>
              <a:rPr lang="en-US" sz="1300" dirty="0">
                <a:solidFill>
                  <a:srgbClr val="1A3A4A"/>
                </a:solidFill>
              </a:rPr>
              <a:t>Tenant model: site/database per school, shared database, or hybrid by customer scale.</a:t>
            </a:r>
            <a:endParaRPr lang="en-US" sz="1300" dirty="0"/>
          </a:p>
          <a:p>
            <a:r>
              <a:rPr lang="en-US" sz="1300" dirty="0">
                <a:solidFill>
                  <a:srgbClr val="1A3A4A"/>
                </a:solidFill>
              </a:rPr>
              <a:t>Mobile approach: responsive web/PWA first, Capacitor wrapper, or native React Native/Flutter.</a:t>
            </a:r>
            <a:endParaRPr lang="en-US" sz="1300" dirty="0"/>
          </a:p>
          <a:p>
            <a:r>
              <a:rPr lang="en-US" sz="1300" dirty="0">
                <a:solidFill>
                  <a:srgbClr val="1A3A4A"/>
                </a:solidFill>
              </a:rPr>
              <a:t>Identity: Frappe-native accounts first; when to support school SSO/OAuth/SAML.</a:t>
            </a:r>
            <a:endParaRPr lang="en-US" sz="1300" dirty="0"/>
          </a:p>
          <a:p>
            <a:r>
              <a:rPr lang="en-US" sz="1300" dirty="0">
                <a:solidFill>
                  <a:srgbClr val="1A3A4A"/>
                </a:solidFill>
              </a:rPr>
              <a:t>AI provider and RAG architecture: vector store, model gateway, retention and data minimisation.</a:t>
            </a:r>
            <a:endParaRPr lang="en-US" sz="1300" dirty="0"/>
          </a:p>
          <a:p>
            <a:r>
              <a:rPr lang="en-US" sz="1300" dirty="0">
                <a:solidFill>
                  <a:srgbClr val="1A3A4A"/>
                </a:solidFill>
              </a:rPr>
              <a:t>Data controller/processor model and school contract responsibilities.</a:t>
            </a:r>
            <a:endParaRPr lang="en-US" sz="1300" dirty="0"/>
          </a:p>
          <a:p>
            <a:r>
              <a:rPr lang="en-US" sz="1300" dirty="0">
                <a:solidFill>
                  <a:srgbClr val="1A3A4A"/>
                </a:solidFill>
              </a:rPr>
              <a:t>Scope of October: demo, closed pilot with synthetic data, or limited real-data pilot after gates.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NEXT STEPS</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Recommended next deliverables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Convert the blueprint into executable product and assurance artefacts</a:t>
            </a:r>
            <a:endParaRPr lang="en-US" sz="1100" dirty="0"/>
          </a:p>
        </p:txBody>
      </p:sp>
      <p:sp>
        <p:nvSpPr>
          <p:cNvPr id="9" name="Text 7"/>
          <p:cNvSpPr/>
          <p:nvPr/>
        </p:nvSpPr>
        <p:spPr>
          <a:xfrm>
            <a:off x="68580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HLD v0.3</a:t>
            </a:r>
            <a:endParaRPr lang="en-US" sz="1050" dirty="0"/>
          </a:p>
          <a:p>
            <a:pPr marL="0" indent="0">
              <a:buNone/>
            </a:pPr>
            <a:r>
              <a:rPr lang="en-US" sz="1050" dirty="0">
                <a:solidFill>
                  <a:srgbClr val="3D4F5A"/>
                </a:solidFill>
              </a:rPr>
              <a:t>Confirm architecture decisions and approved target stack.</a:t>
            </a:r>
            <a:endParaRPr lang="en-US" sz="1050" dirty="0"/>
          </a:p>
        </p:txBody>
      </p:sp>
      <p:sp>
        <p:nvSpPr>
          <p:cNvPr id="10" name="Text 8"/>
          <p:cNvSpPr/>
          <p:nvPr/>
        </p:nvSpPr>
        <p:spPr>
          <a:xfrm>
            <a:off x="6217920" y="114300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Schema v0.2</a:t>
            </a:r>
            <a:endParaRPr lang="en-US" sz="1050" dirty="0"/>
          </a:p>
          <a:p>
            <a:pPr marL="0" indent="0">
              <a:buNone/>
            </a:pPr>
            <a:r>
              <a:rPr lang="en-US" sz="1050" dirty="0">
                <a:solidFill>
                  <a:srgbClr val="3D4F5A"/>
                </a:solidFill>
              </a:rPr>
              <a:t>Review data dictionary and settle MVP fields/enums.</a:t>
            </a:r>
            <a:endParaRPr lang="en-US" sz="1050" dirty="0"/>
          </a:p>
        </p:txBody>
      </p:sp>
      <p:sp>
        <p:nvSpPr>
          <p:cNvPr id="11" name="Text 9"/>
          <p:cNvSpPr/>
          <p:nvPr/>
        </p:nvSpPr>
        <p:spPr>
          <a:xfrm>
            <a:off x="68580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Workflow catalogue</a:t>
            </a:r>
            <a:endParaRPr lang="en-US" sz="1050" dirty="0"/>
          </a:p>
          <a:p>
            <a:pPr marL="0" indent="0">
              <a:buNone/>
            </a:pPr>
            <a:r>
              <a:rPr lang="en-US" sz="1050" dirty="0">
                <a:solidFill>
                  <a:srgbClr val="3D4F5A"/>
                </a:solidFill>
              </a:rPr>
              <a:t>Define triggers, conditions, actions and notification rules.</a:t>
            </a:r>
            <a:endParaRPr lang="en-US" sz="1050" dirty="0"/>
          </a:p>
        </p:txBody>
      </p:sp>
      <p:sp>
        <p:nvSpPr>
          <p:cNvPr id="12" name="Text 10"/>
          <p:cNvSpPr/>
          <p:nvPr/>
        </p:nvSpPr>
        <p:spPr>
          <a:xfrm>
            <a:off x="6217920" y="256032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Security model</a:t>
            </a:r>
            <a:endParaRPr lang="en-US" sz="1050" dirty="0"/>
          </a:p>
          <a:p>
            <a:pPr marL="0" indent="0">
              <a:buNone/>
            </a:pPr>
            <a:r>
              <a:rPr lang="en-US" sz="1050" dirty="0">
                <a:solidFill>
                  <a:srgbClr val="3D4F5A"/>
                </a:solidFill>
              </a:rPr>
              <a:t>RBAC matrix, tenancy tests, 2FA policy and audit requirements.</a:t>
            </a:r>
            <a:endParaRPr lang="en-US" sz="1050" dirty="0"/>
          </a:p>
        </p:txBody>
      </p:sp>
      <p:sp>
        <p:nvSpPr>
          <p:cNvPr id="13" name="Text 11"/>
          <p:cNvSpPr/>
          <p:nvPr/>
        </p:nvSpPr>
        <p:spPr>
          <a:xfrm>
            <a:off x="68580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UX slice</a:t>
            </a:r>
            <a:endParaRPr lang="en-US" sz="1050" dirty="0"/>
          </a:p>
          <a:p>
            <a:pPr marL="0" indent="0">
              <a:buNone/>
            </a:pPr>
            <a:r>
              <a:rPr lang="en-US" sz="1050" dirty="0">
                <a:solidFill>
                  <a:srgbClr val="3D4F5A"/>
                </a:solidFill>
              </a:rPr>
              <a:t>Parent/teacher mobile flow: handover -&gt; observation -&gt; summary.</a:t>
            </a:r>
            <a:endParaRPr lang="en-US" sz="1050" dirty="0"/>
          </a:p>
        </p:txBody>
      </p:sp>
      <p:sp>
        <p:nvSpPr>
          <p:cNvPr id="14" name="Text 12"/>
          <p:cNvSpPr/>
          <p:nvPr/>
        </p:nvSpPr>
        <p:spPr>
          <a:xfrm>
            <a:off x="6217920" y="3977640"/>
            <a:ext cx="5074920" cy="94183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Demo pack</a:t>
            </a:r>
            <a:endParaRPr lang="en-US" sz="1050" dirty="0"/>
          </a:p>
          <a:p>
            <a:pPr marL="0" indent="0">
              <a:buNone/>
            </a:pPr>
            <a:r>
              <a:rPr lang="en-US" sz="1050" dirty="0">
                <a:solidFill>
                  <a:srgbClr val="3D4F5A"/>
                </a:solidFill>
              </a:rPr>
              <a:t>Scripted school demo using safe synthetic data.</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APPENDIX</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Appendix - schema pack summary</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A companion workbook carries the field-level schema</a:t>
            </a:r>
            <a:endParaRPr lang="en-US" sz="1100" dirty="0"/>
          </a:p>
        </p:txBody>
      </p:sp>
      <p:sp>
        <p:nvSpPr>
          <p:cNvPr id="9" name="Text 7"/>
          <p:cNvSpPr/>
          <p:nvPr/>
        </p:nvSpPr>
        <p:spPr>
          <a:xfrm>
            <a:off x="731520" y="1234440"/>
            <a:ext cx="2331720" cy="475488"/>
          </a:xfrm>
          <a:prstGeom prst="roundRect">
            <a:avLst>
              <a:gd name="adj" fmla="val 15385"/>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Foundation</a:t>
            </a:r>
            <a:endParaRPr lang="en-US" sz="1050" dirty="0"/>
          </a:p>
        </p:txBody>
      </p:sp>
      <p:sp>
        <p:nvSpPr>
          <p:cNvPr id="10" name="Text 8"/>
          <p:cNvSpPr/>
          <p:nvPr/>
        </p:nvSpPr>
        <p:spPr>
          <a:xfrm>
            <a:off x="3246120" y="1289304"/>
            <a:ext cx="8046720" cy="310896"/>
          </a:xfrm>
          <a:prstGeom prst="rect">
            <a:avLst/>
          </a:prstGeom>
          <a:noFill/>
          <a:ln/>
        </p:spPr>
        <p:txBody>
          <a:bodyPr wrap="square" lIns="254" tIns="254" rIns="254" bIns="254" rtlCol="0" anchor="t">
            <a:normAutofit/>
          </a:bodyPr>
          <a:lstStyle/>
          <a:p>
            <a:pPr marL="0" indent="0" algn="l">
              <a:buNone/>
            </a:pPr>
            <a:r>
              <a:rPr lang="en-US" sz="1080" dirty="0">
                <a:solidFill>
                  <a:srgbClr val="3D4F5A"/>
                </a:solidFill>
              </a:rPr>
              <a:t>School, Child, Child School Enrolment, Guardian, Staff Member, assignment/link tables.</a:t>
            </a:r>
            <a:endParaRPr lang="en-US" sz="1080" dirty="0"/>
          </a:p>
        </p:txBody>
      </p:sp>
      <p:sp>
        <p:nvSpPr>
          <p:cNvPr id="11" name="Text 9"/>
          <p:cNvSpPr/>
          <p:nvPr/>
        </p:nvSpPr>
        <p:spPr>
          <a:xfrm>
            <a:off x="731520" y="2020824"/>
            <a:ext cx="2331720" cy="475488"/>
          </a:xfrm>
          <a:prstGeom prst="roundRect">
            <a:avLst>
              <a:gd name="adj" fmla="val 15385"/>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Transactions</a:t>
            </a:r>
            <a:endParaRPr lang="en-US" sz="1050" dirty="0"/>
          </a:p>
        </p:txBody>
      </p:sp>
      <p:sp>
        <p:nvSpPr>
          <p:cNvPr id="12" name="Text 10"/>
          <p:cNvSpPr/>
          <p:nvPr/>
        </p:nvSpPr>
        <p:spPr>
          <a:xfrm>
            <a:off x="3246120" y="2075688"/>
            <a:ext cx="8046720" cy="310896"/>
          </a:xfrm>
          <a:prstGeom prst="rect">
            <a:avLst/>
          </a:prstGeom>
          <a:noFill/>
          <a:ln/>
        </p:spPr>
        <p:txBody>
          <a:bodyPr wrap="square" lIns="254" tIns="254" rIns="254" bIns="254" rtlCol="0" anchor="t">
            <a:normAutofit/>
          </a:bodyPr>
          <a:lstStyle/>
          <a:p>
            <a:pPr marL="0" indent="0" algn="l">
              <a:buNone/>
            </a:pPr>
            <a:r>
              <a:rPr lang="en-US" sz="1080" dirty="0">
                <a:solidFill>
                  <a:srgbClr val="3D4F5A"/>
                </a:solidFill>
              </a:rPr>
              <a:t>Child Event, Observation, Handover, Check-In, Incident, Strategy Use, Follow-Up Action, Communication.</a:t>
            </a:r>
            <a:endParaRPr lang="en-US" sz="1080" dirty="0"/>
          </a:p>
        </p:txBody>
      </p:sp>
      <p:sp>
        <p:nvSpPr>
          <p:cNvPr id="13" name="Text 11"/>
          <p:cNvSpPr/>
          <p:nvPr/>
        </p:nvSpPr>
        <p:spPr>
          <a:xfrm>
            <a:off x="731520" y="2807208"/>
            <a:ext cx="2331720" cy="475488"/>
          </a:xfrm>
          <a:prstGeom prst="roundRect">
            <a:avLst>
              <a:gd name="adj" fmla="val 15385"/>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Support / EHCP</a:t>
            </a:r>
            <a:endParaRPr lang="en-US" sz="1050" dirty="0"/>
          </a:p>
        </p:txBody>
      </p:sp>
      <p:sp>
        <p:nvSpPr>
          <p:cNvPr id="14" name="Text 12"/>
          <p:cNvSpPr/>
          <p:nvPr/>
        </p:nvSpPr>
        <p:spPr>
          <a:xfrm>
            <a:off x="3246120" y="2862072"/>
            <a:ext cx="8046720" cy="310896"/>
          </a:xfrm>
          <a:prstGeom prst="rect">
            <a:avLst/>
          </a:prstGeom>
          <a:noFill/>
          <a:ln/>
        </p:spPr>
        <p:txBody>
          <a:bodyPr wrap="square" lIns="254" tIns="254" rIns="254" bIns="254" rtlCol="0" anchor="t">
            <a:normAutofit/>
          </a:bodyPr>
          <a:lstStyle/>
          <a:p>
            <a:pPr marL="0" indent="0" algn="l">
              <a:buNone/>
            </a:pPr>
            <a:r>
              <a:rPr lang="en-US" sz="1080" dirty="0">
                <a:solidFill>
                  <a:srgbClr val="3D4F5A"/>
                </a:solidFill>
              </a:rPr>
              <a:t>Support Profile, Support Need, Strategy Catalogue, Intervention, EHCP Review, Evidence Item, Document.</a:t>
            </a:r>
            <a:endParaRPr lang="en-US" sz="1080" dirty="0"/>
          </a:p>
        </p:txBody>
      </p:sp>
      <p:sp>
        <p:nvSpPr>
          <p:cNvPr id="15" name="Text 13"/>
          <p:cNvSpPr/>
          <p:nvPr/>
        </p:nvSpPr>
        <p:spPr>
          <a:xfrm>
            <a:off x="731520" y="3593592"/>
            <a:ext cx="2331720" cy="475488"/>
          </a:xfrm>
          <a:prstGeom prst="roundRect">
            <a:avLst>
              <a:gd name="adj" fmla="val 15385"/>
            </a:avLst>
          </a:prstGeom>
          <a:solidFill>
            <a:srgbClr val="FFFFFF"/>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Privacy / Governance</a:t>
            </a:r>
            <a:endParaRPr lang="en-US" sz="1050" dirty="0"/>
          </a:p>
        </p:txBody>
      </p:sp>
      <p:sp>
        <p:nvSpPr>
          <p:cNvPr id="16" name="Text 14"/>
          <p:cNvSpPr/>
          <p:nvPr/>
        </p:nvSpPr>
        <p:spPr>
          <a:xfrm>
            <a:off x="3246120" y="3648456"/>
            <a:ext cx="8046720" cy="310896"/>
          </a:xfrm>
          <a:prstGeom prst="rect">
            <a:avLst/>
          </a:prstGeom>
          <a:noFill/>
          <a:ln/>
        </p:spPr>
        <p:txBody>
          <a:bodyPr wrap="square" lIns="254" tIns="254" rIns="254" bIns="254" rtlCol="0" anchor="t">
            <a:normAutofit/>
          </a:bodyPr>
          <a:lstStyle/>
          <a:p>
            <a:pPr marL="0" indent="0" algn="l">
              <a:buNone/>
            </a:pPr>
            <a:r>
              <a:rPr lang="en-US" sz="1080" dirty="0">
                <a:solidFill>
                  <a:srgbClr val="3D4F5A"/>
                </a:solidFill>
              </a:rPr>
              <a:t>Consent, Access Grant, Data Export Request, Audit Event, Retention Policy, Data Classification.</a:t>
            </a:r>
            <a:endParaRPr lang="en-US" sz="1080" dirty="0"/>
          </a:p>
        </p:txBody>
      </p:sp>
      <p:sp>
        <p:nvSpPr>
          <p:cNvPr id="17" name="Text 15"/>
          <p:cNvSpPr/>
          <p:nvPr/>
        </p:nvSpPr>
        <p:spPr>
          <a:xfrm>
            <a:off x="731520" y="4379976"/>
            <a:ext cx="2331720" cy="475488"/>
          </a:xfrm>
          <a:prstGeom prst="roundRect">
            <a:avLst>
              <a:gd name="adj" fmla="val 15385"/>
            </a:avLst>
          </a:prstGeom>
          <a:solidFill>
            <a:srgbClr val="E8F4F1"/>
          </a:solidFill>
          <a:ln w="12700">
            <a:solidFill>
              <a:srgbClr val="DDE4E8"/>
            </a:solidFill>
          </a:ln>
        </p:spPr>
        <p:txBody>
          <a:bodyPr wrap="square" lIns="1270" tIns="1270" rIns="1270" bIns="1270" rtlCol="0" anchor="ctr">
            <a:normAutofit/>
          </a:bodyPr>
          <a:lstStyle/>
          <a:p>
            <a:pPr marL="0" indent="0" algn="l">
              <a:buNone/>
            </a:pPr>
            <a:r>
              <a:rPr lang="en-US" sz="1050" dirty="0">
                <a:solidFill>
                  <a:srgbClr val="1A3A4A"/>
                </a:solidFill>
              </a:rPr>
              <a:t>Reporting / AI</a:t>
            </a:r>
            <a:endParaRPr lang="en-US" sz="1050" dirty="0"/>
          </a:p>
        </p:txBody>
      </p:sp>
      <p:sp>
        <p:nvSpPr>
          <p:cNvPr id="18" name="Text 16"/>
          <p:cNvSpPr/>
          <p:nvPr/>
        </p:nvSpPr>
        <p:spPr>
          <a:xfrm>
            <a:off x="3246120" y="4434840"/>
            <a:ext cx="8046720" cy="310896"/>
          </a:xfrm>
          <a:prstGeom prst="rect">
            <a:avLst/>
          </a:prstGeom>
          <a:noFill/>
          <a:ln/>
        </p:spPr>
        <p:txBody>
          <a:bodyPr wrap="square" lIns="254" tIns="254" rIns="254" bIns="254" rtlCol="0" anchor="t">
            <a:normAutofit/>
          </a:bodyPr>
          <a:lstStyle/>
          <a:p>
            <a:pPr marL="0" indent="0" algn="l">
              <a:buNone/>
            </a:pPr>
            <a:r>
              <a:rPr lang="en-US" sz="1080" dirty="0">
                <a:solidFill>
                  <a:srgbClr val="3D4F5A"/>
                </a:solidFill>
              </a:rPr>
              <a:t>Dashboard Config, Report Snapshot, AI Run, AI Insight, AI Evidence, RAG Source Document, RAG Chunk Index.</a:t>
            </a:r>
            <a:endParaRPr lang="en-US" sz="1080" dirty="0"/>
          </a:p>
        </p:txBody>
      </p:sp>
      <p:sp>
        <p:nvSpPr>
          <p:cNvPr id="19" name="Text 17"/>
          <p:cNvSpPr/>
          <p:nvPr/>
        </p:nvSpPr>
        <p:spPr>
          <a:xfrm>
            <a:off x="868680" y="5623560"/>
            <a:ext cx="10378440" cy="438912"/>
          </a:xfrm>
          <a:prstGeom prst="roundRect">
            <a:avLst/>
          </a:prstGeom>
          <a:solidFill>
            <a:srgbClr val="FFFFFF"/>
          </a:solidFill>
          <a:ln w="12700">
            <a:solidFill>
              <a:srgbClr val="DDE4E8"/>
            </a:solidFill>
          </a:ln>
        </p:spPr>
        <p:txBody>
          <a:bodyPr wrap="square" lIns="1524" tIns="1524" rIns="1524" bIns="1524" rtlCol="0" anchor="t">
            <a:normAutofit/>
          </a:bodyPr>
          <a:lstStyle/>
          <a:p>
            <a:pPr marL="0" indent="0">
              <a:buNone/>
            </a:pPr>
            <a:r>
              <a:rPr lang="en-US" sz="1050" dirty="0">
                <a:solidFill>
                  <a:srgbClr val="3D4F5A"/>
                </a:solidFill>
              </a:rPr>
              <a:t>Use the workbook as the database schema control point. Changes to fields, cardinalities and classifications should be reviewed before implementation.</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B"/>
          </a:solidFill>
          <a:ln w="12700">
            <a:solidFill>
              <a:srgbClr val="F7FAFB">
                <a:alpha val="0"/>
              </a:srgbClr>
            </a:solidFill>
            <a:prstDash val="solid"/>
          </a:ln>
        </p:spPr>
        <p:txBody>
          <a:bodyPr/>
          <a:lstStyle/>
          <a:p>
            <a:endParaRPr lang="en-GB"/>
          </a:p>
        </p:txBody>
      </p:sp>
      <p:sp>
        <p:nvSpPr>
          <p:cNvPr id="3" name="Shape 1"/>
          <p:cNvSpPr/>
          <p:nvPr/>
        </p:nvSpPr>
        <p:spPr>
          <a:xfrm>
            <a:off x="0" y="0"/>
            <a:ext cx="12191695" cy="73152"/>
          </a:xfrm>
          <a:prstGeom prst="rect">
            <a:avLst/>
          </a:prstGeom>
          <a:solidFill>
            <a:srgbClr val="9ECFC4"/>
          </a:solidFill>
          <a:ln w="12700">
            <a:solidFill>
              <a:srgbClr val="9ECFC4">
                <a:alpha val="0"/>
              </a:srgbClr>
            </a:solidFill>
            <a:prstDash val="solid"/>
          </a:ln>
        </p:spPr>
        <p:txBody>
          <a:bodyPr/>
          <a:lstStyle/>
          <a:p>
            <a:endParaRPr lang="en-GB"/>
          </a:p>
        </p:txBody>
      </p:sp>
      <p:sp>
        <p:nvSpPr>
          <p:cNvPr id="4" name="Text 2"/>
          <p:cNvSpPr/>
          <p:nvPr/>
        </p:nvSpPr>
        <p:spPr>
          <a:xfrm>
            <a:off x="9509760" y="164592"/>
            <a:ext cx="2286000" cy="164592"/>
          </a:xfrm>
          <a:prstGeom prst="rect">
            <a:avLst/>
          </a:prstGeom>
          <a:noFill/>
          <a:ln/>
        </p:spPr>
        <p:txBody>
          <a:bodyPr wrap="square" lIns="0" tIns="0" rIns="0" bIns="0" rtlCol="0" anchor="ctr"/>
          <a:lstStyle/>
          <a:p>
            <a:pPr marL="0" indent="0" algn="r">
              <a:buNone/>
            </a:pPr>
            <a:r>
              <a:rPr lang="en-US" sz="750" b="1" dirty="0">
                <a:solidFill>
                  <a:srgbClr val="627984"/>
                </a:solidFill>
              </a:rPr>
              <a:t>APPENDIX</a:t>
            </a:r>
            <a:endParaRPr lang="en-US" sz="750" dirty="0"/>
          </a:p>
        </p:txBody>
      </p:sp>
      <p:sp>
        <p:nvSpPr>
          <p:cNvPr id="5" name="Text 3"/>
          <p:cNvSpPr/>
          <p:nvPr/>
        </p:nvSpPr>
        <p:spPr>
          <a:xfrm>
            <a:off x="438912" y="6556248"/>
            <a:ext cx="4023360" cy="146304"/>
          </a:xfrm>
          <a:prstGeom prst="rect">
            <a:avLst/>
          </a:prstGeom>
          <a:noFill/>
          <a:ln/>
        </p:spPr>
        <p:txBody>
          <a:bodyPr wrap="square" lIns="0" tIns="0" rIns="0" bIns="0" rtlCol="0" anchor="ctr"/>
          <a:lstStyle/>
          <a:p>
            <a:pPr marL="0" indent="0">
              <a:buNone/>
            </a:pPr>
            <a:r>
              <a:rPr lang="en-US" sz="750" dirty="0">
                <a:solidFill>
                  <a:srgbClr val="627984"/>
                </a:solidFill>
              </a:rPr>
              <a:t>See My Mind Technical Blueprint v0.2</a:t>
            </a:r>
            <a:endParaRPr lang="en-US" sz="750" dirty="0"/>
          </a:p>
        </p:txBody>
      </p:sp>
      <p:sp>
        <p:nvSpPr>
          <p:cNvPr id="6" name="Text 4"/>
          <p:cNvSpPr/>
          <p:nvPr/>
        </p:nvSpPr>
        <p:spPr>
          <a:xfrm>
            <a:off x="8458200" y="6556248"/>
            <a:ext cx="3291840" cy="146304"/>
          </a:xfrm>
          <a:prstGeom prst="rect">
            <a:avLst/>
          </a:prstGeom>
          <a:noFill/>
          <a:ln/>
        </p:spPr>
        <p:txBody>
          <a:bodyPr wrap="square" lIns="0" tIns="0" rIns="0" bIns="0" rtlCol="0" anchor="ctr"/>
          <a:lstStyle/>
          <a:p>
            <a:pPr marL="0" indent="0" algn="r">
              <a:buNone/>
            </a:pPr>
            <a:r>
              <a:rPr lang="en-US" sz="750" dirty="0">
                <a:solidFill>
                  <a:srgbClr val="627984"/>
                </a:solidFill>
              </a:rPr>
              <a:t>Confidential working design</a:t>
            </a:r>
            <a:endParaRPr lang="en-US" sz="750" dirty="0"/>
          </a:p>
        </p:txBody>
      </p:sp>
      <p:sp>
        <p:nvSpPr>
          <p:cNvPr id="7" name="Text 5"/>
          <p:cNvSpPr/>
          <p:nvPr/>
        </p:nvSpPr>
        <p:spPr>
          <a:xfrm>
            <a:off x="502920" y="411480"/>
            <a:ext cx="7863840" cy="384048"/>
          </a:xfrm>
          <a:prstGeom prst="rect">
            <a:avLst/>
          </a:prstGeom>
          <a:noFill/>
          <a:ln/>
        </p:spPr>
        <p:txBody>
          <a:bodyPr wrap="square" lIns="0" tIns="0" rIns="0" bIns="0" rtlCol="0" anchor="ctr"/>
          <a:lstStyle/>
          <a:p>
            <a:pPr marL="0" indent="0">
              <a:buNone/>
            </a:pPr>
            <a:r>
              <a:rPr lang="en-US" sz="2400" b="1" dirty="0">
                <a:solidFill>
                  <a:srgbClr val="1A3A4A"/>
                </a:solidFill>
              </a:rPr>
              <a:t>Reference assumptions</a:t>
            </a:r>
            <a:endParaRPr lang="en-US" sz="2400" dirty="0"/>
          </a:p>
        </p:txBody>
      </p:sp>
      <p:sp>
        <p:nvSpPr>
          <p:cNvPr id="8" name="Text 6"/>
          <p:cNvSpPr/>
          <p:nvPr/>
        </p:nvSpPr>
        <p:spPr>
          <a:xfrm>
            <a:off x="512064" y="850392"/>
            <a:ext cx="8412480" cy="237744"/>
          </a:xfrm>
          <a:prstGeom prst="rect">
            <a:avLst/>
          </a:prstGeom>
          <a:noFill/>
          <a:ln/>
        </p:spPr>
        <p:txBody>
          <a:bodyPr wrap="square" lIns="0" tIns="0" rIns="0" bIns="0" rtlCol="0" anchor="ctr"/>
          <a:lstStyle/>
          <a:p>
            <a:pPr marL="0" indent="0">
              <a:buNone/>
            </a:pPr>
            <a:r>
              <a:rPr lang="en-US" sz="1100" dirty="0">
                <a:solidFill>
                  <a:srgbClr val="627984"/>
                </a:solidFill>
              </a:rPr>
              <a:t>Current basis for the technical direction</a:t>
            </a:r>
            <a:endParaRPr lang="en-US" sz="1100" dirty="0"/>
          </a:p>
        </p:txBody>
      </p:sp>
      <p:sp>
        <p:nvSpPr>
          <p:cNvPr id="9" name="Text 7"/>
          <p:cNvSpPr/>
          <p:nvPr/>
        </p:nvSpPr>
        <p:spPr>
          <a:xfrm>
            <a:off x="685800" y="1143000"/>
            <a:ext cx="10515600" cy="4206240"/>
          </a:xfrm>
          <a:prstGeom prst="rect">
            <a:avLst/>
          </a:prstGeom>
          <a:noFill/>
          <a:ln/>
        </p:spPr>
        <p:txBody>
          <a:bodyPr wrap="square" lIns="508" tIns="508" rIns="508" bIns="508" rtlCol="0" anchor="ctr">
            <a:normAutofit/>
          </a:bodyPr>
          <a:lstStyle/>
          <a:p>
            <a:r>
              <a:rPr lang="en-US" sz="1250" dirty="0">
                <a:solidFill>
                  <a:srgbClr val="1A3A4A"/>
                </a:solidFill>
              </a:rPr>
              <a:t>Frappe is used as the application framework for DocTypes, permissions, workflow, APIs, reports and background jobs.</a:t>
            </a:r>
            <a:endParaRPr lang="en-US" sz="1250" dirty="0"/>
          </a:p>
          <a:p>
            <a:r>
              <a:rPr lang="en-US" sz="1250" dirty="0">
                <a:solidFill>
                  <a:srgbClr val="1A3A4A"/>
                </a:solidFill>
              </a:rPr>
              <a:t>MariaDB is the recommended operational database for the initial Frappe implementation.</a:t>
            </a:r>
            <a:endParaRPr lang="en-US" sz="1250" dirty="0"/>
          </a:p>
          <a:p>
            <a:r>
              <a:rPr lang="en-US" sz="1250" dirty="0">
                <a:solidFill>
                  <a:srgbClr val="1A3A4A"/>
                </a:solidFill>
              </a:rPr>
              <a:t>Frappe supports multi-site hosting; tenant strategy remains an explicit product decision.</a:t>
            </a:r>
            <a:endParaRPr lang="en-US" sz="1250" dirty="0"/>
          </a:p>
          <a:p>
            <a:r>
              <a:rPr lang="en-US" sz="1250" dirty="0">
                <a:solidFill>
                  <a:srgbClr val="1A3A4A"/>
                </a:solidFill>
              </a:rPr>
              <a:t>Frappe supports role-based permissions, DocType-linked records, reports, REST APIs and two-factor authentication, but custom application security still requires independent testing.</a:t>
            </a:r>
            <a:endParaRPr lang="en-US" sz="1250" dirty="0"/>
          </a:p>
          <a:p>
            <a:r>
              <a:rPr lang="en-US" sz="1250" dirty="0">
                <a:solidFill>
                  <a:srgbClr val="1A3A4A"/>
                </a:solidFill>
              </a:rPr>
              <a:t>Mobile apps should be built over the same permission-aware application API surface as the browser application.</a:t>
            </a:r>
            <a:endParaRPr lang="en-US" sz="1250" dirty="0"/>
          </a:p>
          <a:p>
            <a:r>
              <a:rPr lang="en-US" sz="1250" dirty="0">
                <a:solidFill>
                  <a:srgbClr val="1A3A4A"/>
                </a:solidFill>
              </a:rPr>
              <a:t>No real child/SEND data should be introduced until privacy, security, tenancy, backup, support and UAT gates are met.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5380</Words>
  <Application>Microsoft Office PowerPoint</Application>
  <PresentationFormat>Widescreen</PresentationFormat>
  <Paragraphs>708</Paragraphs>
  <Slides>48</Slides>
  <Notes>48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48</vt:i4>
      </vt:variant>
    </vt:vector>
  </HeadingPairs>
  <TitlesOfParts>
    <vt:vector size="5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Captiv-8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 My Mind Technical Blueprint v0.2</dc:title>
  <dc:subject>See My Mind High Level Technical Design</dc:subject>
  <dc:creator>Captiv-8 / See My Mind</dc:creator>
  <cp:lastModifiedBy>Shuaib Rabbani</cp:lastModifiedBy>
  <cp:revision>2</cp:revision>
  <dcterms:created xsi:type="dcterms:W3CDTF">2026-09-15T21:03:37Z</dcterms:created>
  <dcterms:modified xsi:type="dcterms:W3CDTF">2026-09-15T21:58:04Z</dcterms:modified>
</cp:coreProperties>
</file>